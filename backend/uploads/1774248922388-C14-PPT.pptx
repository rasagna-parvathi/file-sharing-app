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7" r:id="rId2"/>
    <p:sldId id="258" r:id="rId3"/>
    <p:sldId id="259" r:id="rId4"/>
    <p:sldId id="280" r:id="rId5"/>
    <p:sldId id="268" r:id="rId6"/>
    <p:sldId id="260" r:id="rId7"/>
    <p:sldId id="261" r:id="rId8"/>
    <p:sldId id="281" r:id="rId9"/>
    <p:sldId id="262" r:id="rId10"/>
    <p:sldId id="263" r:id="rId11"/>
    <p:sldId id="264" r:id="rId12"/>
    <p:sldId id="282" r:id="rId13"/>
    <p:sldId id="283" r:id="rId14"/>
    <p:sldId id="284" r:id="rId15"/>
    <p:sldId id="265" r:id="rId16"/>
    <p:sldId id="290" r:id="rId17"/>
    <p:sldId id="285" r:id="rId18"/>
    <p:sldId id="291" r:id="rId19"/>
    <p:sldId id="286" r:id="rId20"/>
    <p:sldId id="294" r:id="rId21"/>
    <p:sldId id="295" r:id="rId22"/>
    <p:sldId id="293" r:id="rId23"/>
    <p:sldId id="267" r:id="rId24"/>
    <p:sldId id="289" r:id="rId25"/>
    <p:sldId id="298" r:id="rId26"/>
    <p:sldId id="27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EF78EB-C277-4A3F-A70B-16988FE20954}" v="44" dt="2026-02-12T05:44:32.99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1" autoAdjust="0"/>
    <p:restoredTop sz="94660"/>
  </p:normalViewPr>
  <p:slideViewPr>
    <p:cSldViewPr snapToGrid="0">
      <p:cViewPr varScale="1">
        <p:scale>
          <a:sx n="64" d="100"/>
          <a:sy n="64" d="100"/>
        </p:scale>
        <p:origin x="1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agna Parvathi" userId="8bab4a6eb89f3b43" providerId="LiveId" clId="{6B43C2C6-B798-4908-A039-B480A1048AFD}"/>
    <pc:docChg chg="modSld">
      <pc:chgData name="Rasagna Parvathi" userId="8bab4a6eb89f3b43" providerId="LiveId" clId="{6B43C2C6-B798-4908-A039-B480A1048AFD}" dt="2026-02-12T05:44:39.778" v="195" actId="1076"/>
      <pc:docMkLst>
        <pc:docMk/>
      </pc:docMkLst>
      <pc:sldChg chg="modSp mod">
        <pc:chgData name="Rasagna Parvathi" userId="8bab4a6eb89f3b43" providerId="LiveId" clId="{6B43C2C6-B798-4908-A039-B480A1048AFD}" dt="2026-02-12T05:30:16.590" v="23" actId="20577"/>
        <pc:sldMkLst>
          <pc:docMk/>
          <pc:sldMk cId="0" sldId="257"/>
        </pc:sldMkLst>
        <pc:spChg chg="mod">
          <ac:chgData name="Rasagna Parvathi" userId="8bab4a6eb89f3b43" providerId="LiveId" clId="{6B43C2C6-B798-4908-A039-B480A1048AFD}" dt="2026-02-12T05:29:51.466" v="4" actId="20577"/>
          <ac:spMkLst>
            <pc:docMk/>
            <pc:sldMk cId="0" sldId="257"/>
            <ac:spMk id="4" creationId="{12D4620D-3493-494A-C8CB-5310BEE986F2}"/>
          </ac:spMkLst>
        </pc:spChg>
        <pc:spChg chg="mod">
          <ac:chgData name="Rasagna Parvathi" userId="8bab4a6eb89f3b43" providerId="LiveId" clId="{6B43C2C6-B798-4908-A039-B480A1048AFD}" dt="2026-02-12T05:30:16.590" v="23" actId="20577"/>
          <ac:spMkLst>
            <pc:docMk/>
            <pc:sldMk cId="0" sldId="257"/>
            <ac:spMk id="5" creationId="{00000000-0000-0000-0000-000000000000}"/>
          </ac:spMkLst>
        </pc:spChg>
      </pc:sldChg>
      <pc:sldChg chg="modSp mod">
        <pc:chgData name="Rasagna Parvathi" userId="8bab4a6eb89f3b43" providerId="LiveId" clId="{6B43C2C6-B798-4908-A039-B480A1048AFD}" dt="2026-02-12T05:31:52.281" v="28"/>
        <pc:sldMkLst>
          <pc:docMk/>
          <pc:sldMk cId="0" sldId="259"/>
        </pc:sldMkLst>
        <pc:spChg chg="mod">
          <ac:chgData name="Rasagna Parvathi" userId="8bab4a6eb89f3b43" providerId="LiveId" clId="{6B43C2C6-B798-4908-A039-B480A1048AFD}" dt="2026-02-12T05:31:52.281" v="28"/>
          <ac:spMkLst>
            <pc:docMk/>
            <pc:sldMk cId="0" sldId="259"/>
            <ac:spMk id="7" creationId="{E0A887B1-C0EA-AFC6-70A6-F64E96A67472}"/>
          </ac:spMkLst>
        </pc:spChg>
      </pc:sldChg>
      <pc:sldChg chg="addSp delSp modSp mod">
        <pc:chgData name="Rasagna Parvathi" userId="8bab4a6eb89f3b43" providerId="LiveId" clId="{6B43C2C6-B798-4908-A039-B480A1048AFD}" dt="2026-02-12T05:43:22.502" v="190" actId="20577"/>
        <pc:sldMkLst>
          <pc:docMk/>
          <pc:sldMk cId="0" sldId="260"/>
        </pc:sldMkLst>
        <pc:spChg chg="add del mod">
          <ac:chgData name="Rasagna Parvathi" userId="8bab4a6eb89f3b43" providerId="LiveId" clId="{6B43C2C6-B798-4908-A039-B480A1048AFD}" dt="2026-02-12T05:42:46.090" v="178"/>
          <ac:spMkLst>
            <pc:docMk/>
            <pc:sldMk cId="0" sldId="260"/>
            <ac:spMk id="3" creationId="{66771F4F-C77F-4A68-3EEB-186078BE7A73}"/>
          </ac:spMkLst>
        </pc:spChg>
        <pc:spChg chg="add mod">
          <ac:chgData name="Rasagna Parvathi" userId="8bab4a6eb89f3b43" providerId="LiveId" clId="{6B43C2C6-B798-4908-A039-B480A1048AFD}" dt="2026-02-12T05:43:22.502" v="190" actId="20577"/>
          <ac:spMkLst>
            <pc:docMk/>
            <pc:sldMk cId="0" sldId="260"/>
            <ac:spMk id="5" creationId="{CAF7F992-308C-D28B-B43C-EE2397BAEDC2}"/>
          </ac:spMkLst>
        </pc:spChg>
        <pc:spChg chg="add del mod">
          <ac:chgData name="Rasagna Parvathi" userId="8bab4a6eb89f3b43" providerId="LiveId" clId="{6B43C2C6-B798-4908-A039-B480A1048AFD}" dt="2026-02-12T05:42:56.642" v="183"/>
          <ac:spMkLst>
            <pc:docMk/>
            <pc:sldMk cId="0" sldId="260"/>
            <ac:spMk id="6" creationId="{2B1D966C-3258-A77A-76C9-34E0F915974D}"/>
          </ac:spMkLst>
        </pc:spChg>
        <pc:spChg chg="del mod">
          <ac:chgData name="Rasagna Parvathi" userId="8bab4a6eb89f3b43" providerId="LiveId" clId="{6B43C2C6-B798-4908-A039-B480A1048AFD}" dt="2026-02-12T05:42:46.088" v="176"/>
          <ac:spMkLst>
            <pc:docMk/>
            <pc:sldMk cId="0" sldId="260"/>
            <ac:spMk id="7" creationId="{D21A7742-E638-E2D5-CB0E-3BEC34701A93}"/>
          </ac:spMkLst>
        </pc:spChg>
        <pc:spChg chg="add del mod">
          <ac:chgData name="Rasagna Parvathi" userId="8bab4a6eb89f3b43" providerId="LiveId" clId="{6B43C2C6-B798-4908-A039-B480A1048AFD}" dt="2026-02-12T05:42:46.084" v="174" actId="478"/>
          <ac:spMkLst>
            <pc:docMk/>
            <pc:sldMk cId="0" sldId="260"/>
            <ac:spMk id="8" creationId="{D493CEB8-24D2-F2A9-794A-CDEFCF43BC49}"/>
          </ac:spMkLst>
        </pc:spChg>
      </pc:sldChg>
      <pc:sldChg chg="modSp mod">
        <pc:chgData name="Rasagna Parvathi" userId="8bab4a6eb89f3b43" providerId="LiveId" clId="{6B43C2C6-B798-4908-A039-B480A1048AFD}" dt="2026-02-12T05:44:02.614" v="192"/>
        <pc:sldMkLst>
          <pc:docMk/>
          <pc:sldMk cId="0" sldId="261"/>
        </pc:sldMkLst>
        <pc:spChg chg="mod">
          <ac:chgData name="Rasagna Parvathi" userId="8bab4a6eb89f3b43" providerId="LiveId" clId="{6B43C2C6-B798-4908-A039-B480A1048AFD}" dt="2026-02-12T05:44:02.614" v="192"/>
          <ac:spMkLst>
            <pc:docMk/>
            <pc:sldMk cId="0" sldId="261"/>
            <ac:spMk id="5" creationId="{12F8EB52-057A-52D9-62D1-ADE3FF301367}"/>
          </ac:spMkLst>
        </pc:spChg>
      </pc:sldChg>
      <pc:sldChg chg="addSp delSp modSp mod">
        <pc:chgData name="Rasagna Parvathi" userId="8bab4a6eb89f3b43" providerId="LiveId" clId="{6B43C2C6-B798-4908-A039-B480A1048AFD}" dt="2026-02-12T05:40:17.635" v="105" actId="20577"/>
        <pc:sldMkLst>
          <pc:docMk/>
          <pc:sldMk cId="0" sldId="268"/>
        </pc:sldMkLst>
        <pc:spChg chg="add mod">
          <ac:chgData name="Rasagna Parvathi" userId="8bab4a6eb89f3b43" providerId="LiveId" clId="{6B43C2C6-B798-4908-A039-B480A1048AFD}" dt="2026-02-12T05:40:17.635" v="105" actId="20577"/>
          <ac:spMkLst>
            <pc:docMk/>
            <pc:sldMk cId="0" sldId="268"/>
            <ac:spMk id="3" creationId="{7B49F8AA-3D8F-52C8-E417-BDC9E8197862}"/>
          </ac:spMkLst>
        </pc:spChg>
        <pc:spChg chg="del mod">
          <ac:chgData name="Rasagna Parvathi" userId="8bab4a6eb89f3b43" providerId="LiveId" clId="{6B43C2C6-B798-4908-A039-B480A1048AFD}" dt="2026-02-12T05:39:47.680" v="100"/>
          <ac:spMkLst>
            <pc:docMk/>
            <pc:sldMk cId="0" sldId="268"/>
            <ac:spMk id="11" creationId="{D7F7A17C-E497-C605-CBA6-7D7A4665C1B5}"/>
          </ac:spMkLst>
        </pc:spChg>
      </pc:sldChg>
      <pc:sldChg chg="addSp delSp modSp mod">
        <pc:chgData name="Rasagna Parvathi" userId="8bab4a6eb89f3b43" providerId="LiveId" clId="{6B43C2C6-B798-4908-A039-B480A1048AFD}" dt="2026-02-12T05:37:38.142" v="86" actId="14100"/>
        <pc:sldMkLst>
          <pc:docMk/>
          <pc:sldMk cId="0" sldId="280"/>
        </pc:sldMkLst>
        <pc:spChg chg="add mod">
          <ac:chgData name="Rasagna Parvathi" userId="8bab4a6eb89f3b43" providerId="LiveId" clId="{6B43C2C6-B798-4908-A039-B480A1048AFD}" dt="2026-02-12T05:37:07.945" v="84" actId="14100"/>
          <ac:spMkLst>
            <pc:docMk/>
            <pc:sldMk cId="0" sldId="280"/>
            <ac:spMk id="3" creationId="{807BE2A5-8BF0-A0BA-CD22-6F518FC3E627}"/>
          </ac:spMkLst>
        </pc:spChg>
        <pc:spChg chg="add mod">
          <ac:chgData name="Rasagna Parvathi" userId="8bab4a6eb89f3b43" providerId="LiveId" clId="{6B43C2C6-B798-4908-A039-B480A1048AFD}" dt="2026-02-12T05:37:38.142" v="86" actId="14100"/>
          <ac:spMkLst>
            <pc:docMk/>
            <pc:sldMk cId="0" sldId="280"/>
            <ac:spMk id="7" creationId="{75A7169C-C8CE-53EA-25E0-DA23B3615701}"/>
          </ac:spMkLst>
        </pc:spChg>
        <pc:spChg chg="del mod">
          <ac:chgData name="Rasagna Parvathi" userId="8bab4a6eb89f3b43" providerId="LiveId" clId="{6B43C2C6-B798-4908-A039-B480A1048AFD}" dt="2026-02-12T05:34:11.885" v="39"/>
          <ac:spMkLst>
            <pc:docMk/>
            <pc:sldMk cId="0" sldId="280"/>
            <ac:spMk id="16" creationId="{928032AF-9F1B-0B15-3886-8306F3EB6ECE}"/>
          </ac:spMkLst>
        </pc:spChg>
      </pc:sldChg>
      <pc:sldChg chg="modSp mod">
        <pc:chgData name="Rasagna Parvathi" userId="8bab4a6eb89f3b43" providerId="LiveId" clId="{6B43C2C6-B798-4908-A039-B480A1048AFD}" dt="2026-02-12T05:44:39.778" v="195" actId="1076"/>
        <pc:sldMkLst>
          <pc:docMk/>
          <pc:sldMk cId="4040706633" sldId="281"/>
        </pc:sldMkLst>
        <pc:spChg chg="mod">
          <ac:chgData name="Rasagna Parvathi" userId="8bab4a6eb89f3b43" providerId="LiveId" clId="{6B43C2C6-B798-4908-A039-B480A1048AFD}" dt="2026-02-12T05:44:32.995" v="194"/>
          <ac:spMkLst>
            <pc:docMk/>
            <pc:sldMk cId="4040706633" sldId="281"/>
            <ac:spMk id="10" creationId="{1B3C1330-45FC-043C-E6F8-1D28C64A3A24}"/>
          </ac:spMkLst>
        </pc:spChg>
        <pc:picChg chg="mod">
          <ac:chgData name="Rasagna Parvathi" userId="8bab4a6eb89f3b43" providerId="LiveId" clId="{6B43C2C6-B798-4908-A039-B480A1048AFD}" dt="2026-02-12T05:44:39.778" v="195" actId="1076"/>
          <ac:picMkLst>
            <pc:docMk/>
            <pc:sldMk cId="4040706633" sldId="281"/>
            <ac:picMk id="12" creationId="{FC2D8935-F024-F636-3A2A-0D9B165E01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FFB5F8-3C92-40F9-83EF-E67BD26AA641}" type="datetimeFigureOut">
              <a:rPr lang="en-IN" smtClean="0"/>
              <a:t>12-02-2026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81AF1-334C-4127-9827-DA3EBF6191A0}" type="slidenum">
              <a:rPr lang="en-IN" smtClean="0"/>
              <a:t>‹#›</a:t>
            </a:fld>
            <a:endParaRPr lang="en-IN"/>
          </a:p>
        </p:txBody>
      </p:sp>
    </p:spTree>
    <p:extLst>
      <p:ext uri="{BB962C8B-B14F-4D97-AF65-F5344CB8AC3E}">
        <p14:creationId xmlns:p14="http://schemas.microsoft.com/office/powerpoint/2010/main" val="1891781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4</a:t>
            </a:fld>
            <a:endParaRPr lang="en-IN"/>
          </a:p>
        </p:txBody>
      </p:sp>
    </p:spTree>
    <p:extLst>
      <p:ext uri="{BB962C8B-B14F-4D97-AF65-F5344CB8AC3E}">
        <p14:creationId xmlns:p14="http://schemas.microsoft.com/office/powerpoint/2010/main" val="1853720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5</a:t>
            </a:fld>
            <a:endParaRPr lang="en-IN"/>
          </a:p>
        </p:txBody>
      </p:sp>
    </p:spTree>
    <p:extLst>
      <p:ext uri="{BB962C8B-B14F-4D97-AF65-F5344CB8AC3E}">
        <p14:creationId xmlns:p14="http://schemas.microsoft.com/office/powerpoint/2010/main" val="3680978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9</a:t>
            </a:fld>
            <a:endParaRPr lang="en-IN"/>
          </a:p>
        </p:txBody>
      </p:sp>
    </p:spTree>
    <p:extLst>
      <p:ext uri="{BB962C8B-B14F-4D97-AF65-F5344CB8AC3E}">
        <p14:creationId xmlns:p14="http://schemas.microsoft.com/office/powerpoint/2010/main" val="1086738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19</a:t>
            </a:fld>
            <a:endParaRPr lang="en-IN"/>
          </a:p>
        </p:txBody>
      </p:sp>
    </p:spTree>
    <p:extLst>
      <p:ext uri="{BB962C8B-B14F-4D97-AF65-F5344CB8AC3E}">
        <p14:creationId xmlns:p14="http://schemas.microsoft.com/office/powerpoint/2010/main" val="874623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5D5B-9B9E-05A8-00B5-46515E233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D0D55-46F9-1F1F-B0E2-B86134515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7F3FB-4D9F-102F-2201-5FE9F251DC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7ED51F2-4294-F7F6-0F2E-BE0606057C40}"/>
              </a:ext>
            </a:extLst>
          </p:cNvPr>
          <p:cNvSpPr>
            <a:spLocks noGrp="1"/>
          </p:cNvSpPr>
          <p:nvPr>
            <p:ph type="sldNum" sz="quarter" idx="5"/>
          </p:nvPr>
        </p:nvSpPr>
        <p:spPr/>
        <p:txBody>
          <a:bodyPr/>
          <a:lstStyle/>
          <a:p>
            <a:fld id="{19481AF1-334C-4127-9827-DA3EBF6191A0}" type="slidenum">
              <a:rPr lang="en-IN" smtClean="0"/>
              <a:t>20</a:t>
            </a:fld>
            <a:endParaRPr lang="en-IN"/>
          </a:p>
        </p:txBody>
      </p:sp>
    </p:spTree>
    <p:extLst>
      <p:ext uri="{BB962C8B-B14F-4D97-AF65-F5344CB8AC3E}">
        <p14:creationId xmlns:p14="http://schemas.microsoft.com/office/powerpoint/2010/main" val="1728209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5DBA1-ACE6-7179-2DA7-CA14CE1AE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EA93F-59C6-4537-B2AA-E73AA9E35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8BDBC-B2A2-5DF2-23D4-CAFF851D55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2EA43F-B993-07C8-D82E-CC3093A9969A}"/>
              </a:ext>
            </a:extLst>
          </p:cNvPr>
          <p:cNvSpPr>
            <a:spLocks noGrp="1"/>
          </p:cNvSpPr>
          <p:nvPr>
            <p:ph type="sldNum" sz="quarter" idx="5"/>
          </p:nvPr>
        </p:nvSpPr>
        <p:spPr/>
        <p:txBody>
          <a:bodyPr/>
          <a:lstStyle/>
          <a:p>
            <a:fld id="{19481AF1-334C-4127-9827-DA3EBF6191A0}" type="slidenum">
              <a:rPr lang="en-IN" smtClean="0"/>
              <a:t>21</a:t>
            </a:fld>
            <a:endParaRPr lang="en-IN"/>
          </a:p>
        </p:txBody>
      </p:sp>
    </p:spTree>
    <p:extLst>
      <p:ext uri="{BB962C8B-B14F-4D97-AF65-F5344CB8AC3E}">
        <p14:creationId xmlns:p14="http://schemas.microsoft.com/office/powerpoint/2010/main" val="3695269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457E3-6DC7-4A2D-621E-92E4B8415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4CF3C-1DCF-18B5-D25D-8935E7713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397C87-B38C-9B33-1F68-0DC1AD1969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ADA567-48B4-EE19-453E-61A654D876A1}"/>
              </a:ext>
            </a:extLst>
          </p:cNvPr>
          <p:cNvSpPr>
            <a:spLocks noGrp="1"/>
          </p:cNvSpPr>
          <p:nvPr>
            <p:ph type="sldNum" sz="quarter" idx="5"/>
          </p:nvPr>
        </p:nvSpPr>
        <p:spPr/>
        <p:txBody>
          <a:bodyPr/>
          <a:lstStyle/>
          <a:p>
            <a:fld id="{19481AF1-334C-4127-9827-DA3EBF6191A0}" type="slidenum">
              <a:rPr lang="en-IN" smtClean="0"/>
              <a:t>22</a:t>
            </a:fld>
            <a:endParaRPr lang="en-IN"/>
          </a:p>
        </p:txBody>
      </p:sp>
    </p:spTree>
    <p:extLst>
      <p:ext uri="{BB962C8B-B14F-4D97-AF65-F5344CB8AC3E}">
        <p14:creationId xmlns:p14="http://schemas.microsoft.com/office/powerpoint/2010/main" val="3193240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481AF1-334C-4127-9827-DA3EBF6191A0}" type="slidenum">
              <a:rPr lang="en-IN" smtClean="0"/>
              <a:t>23</a:t>
            </a:fld>
            <a:endParaRPr lang="en-IN"/>
          </a:p>
        </p:txBody>
      </p:sp>
    </p:spTree>
    <p:extLst>
      <p:ext uri="{BB962C8B-B14F-4D97-AF65-F5344CB8AC3E}">
        <p14:creationId xmlns:p14="http://schemas.microsoft.com/office/powerpoint/2010/main" val="3569001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45B1B-EB09-0981-1EAB-81FF7630E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201DD-541E-22F5-2293-0FE9E8B2F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52E3D-86D8-41E1-877B-26CAF5D0EE0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F0C1F6-5455-0602-B26D-5946112A37CB}"/>
              </a:ext>
            </a:extLst>
          </p:cNvPr>
          <p:cNvSpPr>
            <a:spLocks noGrp="1"/>
          </p:cNvSpPr>
          <p:nvPr>
            <p:ph type="sldNum" sz="quarter" idx="5"/>
          </p:nvPr>
        </p:nvSpPr>
        <p:spPr/>
        <p:txBody>
          <a:bodyPr/>
          <a:lstStyle/>
          <a:p>
            <a:fld id="{19481AF1-334C-4127-9827-DA3EBF6191A0}" type="slidenum">
              <a:rPr lang="en-IN" smtClean="0"/>
              <a:t>24</a:t>
            </a:fld>
            <a:endParaRPr lang="en-IN"/>
          </a:p>
        </p:txBody>
      </p:sp>
    </p:spTree>
    <p:extLst>
      <p:ext uri="{BB962C8B-B14F-4D97-AF65-F5344CB8AC3E}">
        <p14:creationId xmlns:p14="http://schemas.microsoft.com/office/powerpoint/2010/main" val="189171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87959-099E-1F20-072C-40B961F1B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1BA6F-A39E-4113-D041-CF63CA9C9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2F790-4FA7-75D0-6B7D-965105BDC1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95A825-C4F8-E031-C459-0921F36E7D55}"/>
              </a:ext>
            </a:extLst>
          </p:cNvPr>
          <p:cNvSpPr>
            <a:spLocks noGrp="1"/>
          </p:cNvSpPr>
          <p:nvPr>
            <p:ph type="sldNum" sz="quarter" idx="5"/>
          </p:nvPr>
        </p:nvSpPr>
        <p:spPr/>
        <p:txBody>
          <a:bodyPr/>
          <a:lstStyle/>
          <a:p>
            <a:fld id="{19481AF1-334C-4127-9827-DA3EBF6191A0}" type="slidenum">
              <a:rPr lang="en-IN" smtClean="0"/>
              <a:t>25</a:t>
            </a:fld>
            <a:endParaRPr lang="en-IN"/>
          </a:p>
        </p:txBody>
      </p:sp>
    </p:spTree>
    <p:extLst>
      <p:ext uri="{BB962C8B-B14F-4D97-AF65-F5344CB8AC3E}">
        <p14:creationId xmlns:p14="http://schemas.microsoft.com/office/powerpoint/2010/main" val="1940707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E09F6-35F0-4BD9-B413-870CCF1D7DBE}"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0DE09F6-35F0-4BD9-B413-870CCF1D7DBE}"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0DE09F6-35F0-4BD9-B413-870CCF1D7DBE}" type="datetimeFigureOut">
              <a:rPr lang="en-IN" smtClean="0"/>
              <a:t>12-02-2026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0DE09F6-35F0-4BD9-B413-870CCF1D7DBE}" type="datetimeFigureOut">
              <a:rPr lang="en-IN" smtClean="0"/>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E09F6-35F0-4BD9-B413-870CCF1D7DBE}" type="datetimeFigureOut">
              <a:rPr lang="en-IN" smtClean="0"/>
              <a:t>12-02-2026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E09F6-35F0-4BD9-B413-870CCF1D7DBE}"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E09F6-35F0-4BD9-B413-870CCF1D7DBE}"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E09F6-35F0-4BD9-B413-870CCF1D7DBE}" type="datetimeFigureOut">
              <a:rPr lang="en-IN" smtClean="0"/>
              <a:t>12-02-2026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2A416A-7D92-4211-AD23-0968018DD29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3948" y="274024"/>
            <a:ext cx="9773586" cy="1428596"/>
          </a:xfrm>
          <a:prstGeom prst="rect">
            <a:avLst/>
          </a:prstGeom>
        </p:spPr>
        <p:txBody>
          <a:bodyPr vert="horz" wrap="square" lIns="0" tIns="12700" rIns="0" bIns="0" rtlCol="0" anchor="ctr">
            <a:spAutoFit/>
          </a:bodyPr>
          <a:lstStyle/>
          <a:p>
            <a:pPr marL="704850" marR="5080" indent="-692785" algn="ctr">
              <a:lnSpc>
                <a:spcPct val="100000"/>
              </a:lnSpc>
              <a:spcBef>
                <a:spcPts val="100"/>
              </a:spcBef>
            </a:pPr>
            <a:r>
              <a:rPr lang="en-US" sz="2400" b="1" dirty="0">
                <a:latin typeface="Times New Roman" panose="02020603050405020304" pitchFamily="18" charset="0"/>
                <a:cs typeface="Times New Roman" panose="02020603050405020304" pitchFamily="18" charset="0"/>
              </a:rPr>
              <a:t>  MALLA REDDY COLLEGE OF ENGINEERING &amp; TECHNOLOGY</a:t>
            </a:r>
            <a:br>
              <a:rPr lang="en-US" sz="24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(Autonomous Institution – UGC, Govt. of India)</a:t>
            </a:r>
            <a:br>
              <a:rPr lang="en-US" sz="20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DEPARTMENT OF COMPUTER SCIENCE AND ENGINEERING</a:t>
            </a:r>
            <a:endParaRPr sz="20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810630" y="5073847"/>
            <a:ext cx="3210391" cy="869469"/>
          </a:xfrm>
          <a:prstGeom prst="rect">
            <a:avLst/>
          </a:prstGeom>
        </p:spPr>
        <p:txBody>
          <a:bodyPr vert="horz" wrap="square" lIns="0" tIns="12700" rIns="0" bIns="0" rtlCol="0">
            <a:spAutoFit/>
          </a:bodyPr>
          <a:lstStyle/>
          <a:p>
            <a:pPr marL="12700" marR="5080">
              <a:spcBef>
                <a:spcPts val="100"/>
              </a:spcBef>
            </a:pPr>
            <a:r>
              <a:rPr b="1" spc="-5" dirty="0">
                <a:latin typeface="Times New Roman" panose="02020603050405020304" pitchFamily="18" charset="0"/>
                <a:cs typeface="Times New Roman" panose="02020603050405020304" pitchFamily="18" charset="0"/>
              </a:rPr>
              <a:t>Under the </a:t>
            </a:r>
            <a:r>
              <a:rPr lang="en-IN" b="1" spc="-5" dirty="0">
                <a:latin typeface="Times New Roman" panose="02020603050405020304" pitchFamily="18" charset="0"/>
                <a:cs typeface="Times New Roman" panose="02020603050405020304" pitchFamily="18" charset="0"/>
              </a:rPr>
              <a:t>Guidance</a:t>
            </a:r>
            <a:r>
              <a:rPr b="1" spc="-5" dirty="0">
                <a:latin typeface="Times New Roman" panose="02020603050405020304" pitchFamily="18" charset="0"/>
                <a:cs typeface="Times New Roman" panose="02020603050405020304" pitchFamily="18" charset="0"/>
              </a:rPr>
              <a:t> of </a:t>
            </a:r>
            <a:r>
              <a:rPr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pPr marL="12700" marR="5080">
              <a:spcBef>
                <a:spcPts val="100"/>
              </a:spcBef>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Ms. </a:t>
            </a:r>
            <a:r>
              <a:rPr lang="en-US" b="1" kern="100" dirty="0" err="1">
                <a:latin typeface="Times New Roman" panose="02020603050405020304" pitchFamily="18" charset="0"/>
                <a:ea typeface="Aptos" panose="020B0004020202020204" pitchFamily="34" charset="0"/>
                <a:cs typeface="Times New Roman" panose="02020603050405020304" pitchFamily="18" charset="0"/>
              </a:rPr>
              <a:t>T.Ramanama</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12700" marR="5080">
              <a:spcBef>
                <a:spcPts val="100"/>
              </a:spcBef>
            </a:pPr>
            <a:r>
              <a:rPr lang="en-US" altLang="en-IN" b="1" dirty="0">
                <a:latin typeface="Times New Roman" panose="02020603050405020304" pitchFamily="18" charset="0"/>
                <a:cs typeface="Times New Roman" panose="02020603050405020304" pitchFamily="18" charset="0"/>
              </a:rPr>
              <a:t>Assistant Professor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4" name="TextBox 3">
            <a:extLst>
              <a:ext uri="{FF2B5EF4-FFF2-40B4-BE49-F238E27FC236}">
                <a16:creationId xmlns:a16="http://schemas.microsoft.com/office/drawing/2014/main" id="{12D4620D-3493-494A-C8CB-5310BEE986F2}"/>
              </a:ext>
            </a:extLst>
          </p:cNvPr>
          <p:cNvSpPr txBox="1"/>
          <p:nvPr/>
        </p:nvSpPr>
        <p:spPr>
          <a:xfrm>
            <a:off x="2357438" y="2414588"/>
            <a:ext cx="9238505" cy="1582484"/>
          </a:xfrm>
          <a:prstGeom prst="rect">
            <a:avLst/>
          </a:prstGeom>
          <a:noFill/>
        </p:spPr>
        <p:txBody>
          <a:bodyPr wrap="square" rtlCol="0">
            <a:spAutoFit/>
          </a:bodyPr>
          <a:lstStyle/>
          <a:p>
            <a:pPr marL="12700" marR="5080">
              <a:spcBef>
                <a:spcPts val="100"/>
              </a:spcBef>
            </a:pPr>
            <a:r>
              <a:rPr lang="en-US" sz="4000" b="1" dirty="0">
                <a:latin typeface="Times New Roman" panose="02020603050405020304" pitchFamily="18" charset="0"/>
                <a:cs typeface="Times New Roman" panose="02020603050405020304" pitchFamily="18" charset="0"/>
              </a:rPr>
              <a:t>        </a:t>
            </a:r>
            <a:r>
              <a:rPr lang="en-IN" sz="2800" b="1" dirty="0" err="1"/>
              <a:t>NeuroGuard</a:t>
            </a:r>
            <a:r>
              <a:rPr lang="en-IN" sz="2800" b="1" dirty="0"/>
              <a:t> : Intelligent Identity Verification System</a:t>
            </a:r>
            <a:endParaRPr lang="en-US" sz="2800" b="1" dirty="0">
              <a:latin typeface="Times New Roman" panose="02020603050405020304" pitchFamily="18" charset="0"/>
              <a:cs typeface="Times New Roman" panose="02020603050405020304" pitchFamily="18" charset="0"/>
            </a:endParaRPr>
          </a:p>
          <a:p>
            <a:pPr marL="12700" marR="5080">
              <a:spcBef>
                <a:spcPts val="100"/>
              </a:spcBef>
            </a:pPr>
            <a:r>
              <a:rPr lang="en-US" sz="2800" b="1" dirty="0">
                <a:latin typeface="Times New Roman" panose="02020603050405020304" pitchFamily="18" charset="0"/>
                <a:cs typeface="Times New Roman" panose="02020603050405020304" pitchFamily="18" charset="0"/>
              </a:rPr>
              <a:t>		</a:t>
            </a:r>
          </a:p>
          <a:p>
            <a:endParaRPr lang="en-IN" sz="2800"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33FCB98-CBA6-A3C5-4269-9948A4DD5A01}"/>
              </a:ext>
            </a:extLst>
          </p:cNvPr>
          <p:cNvSpPr txBox="1"/>
          <p:nvPr/>
        </p:nvSpPr>
        <p:spPr>
          <a:xfrm>
            <a:off x="7482980" y="4908418"/>
            <a:ext cx="4238908" cy="1200329"/>
          </a:xfrm>
          <a:prstGeom prst="rect">
            <a:avLst/>
          </a:prstGeom>
          <a:noFill/>
        </p:spPr>
        <p:txBody>
          <a:bodyPr wrap="square" lIns="91440" tIns="45720" rIns="91440" bIns="45720" rtlCol="0" anchor="t">
            <a:spAutoFit/>
          </a:bodyPr>
          <a:lstStyle/>
          <a:p>
            <a:r>
              <a:rPr lang="en-US" b="1" u="sng" dirty="0">
                <a:latin typeface="Times New Roman" panose="02020603050405020304" pitchFamily="18" charset="0"/>
                <a:cs typeface="Times New Roman" panose="02020603050405020304" pitchFamily="18" charset="0"/>
              </a:rPr>
              <a:t>Team – C14( CSE - IV 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 Rasagna -22N31A05G4</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 Ramya -   22N31A05H7</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P.Vishnuvardhan</a:t>
            </a:r>
            <a:r>
              <a:rPr lang="en-US" dirty="0">
                <a:latin typeface="Times New Roman" panose="02020603050405020304" pitchFamily="18" charset="0"/>
                <a:cs typeface="Times New Roman" panose="02020603050405020304" pitchFamily="18" charset="0"/>
              </a:rPr>
              <a:t> -22N31A05H2</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4400" b="1" spc="-60" dirty="0">
                <a:latin typeface="Times New Roman" panose="02020603050405020304" pitchFamily="18" charset="0"/>
                <a:cs typeface="Times New Roman" panose="02020603050405020304" pitchFamily="18" charset="0"/>
              </a:rPr>
              <a:t>A</a:t>
            </a:r>
            <a:r>
              <a:rPr lang="en-IN" sz="4400" b="1" spc="-5" dirty="0">
                <a:latin typeface="Times New Roman" panose="02020603050405020304" pitchFamily="18" charset="0"/>
                <a:cs typeface="Times New Roman" panose="02020603050405020304" pitchFamily="18" charset="0"/>
              </a:rPr>
              <a:t>GEN</a:t>
            </a:r>
            <a:r>
              <a:rPr lang="en-IN" sz="4400" b="1" spc="-105" dirty="0">
                <a:latin typeface="Times New Roman" panose="02020603050405020304" pitchFamily="18" charset="0"/>
                <a:cs typeface="Times New Roman" panose="02020603050405020304" pitchFamily="18" charset="0"/>
              </a:rPr>
              <a:t>D</a:t>
            </a:r>
            <a:r>
              <a:rPr lang="en-IN" sz="4400" b="1" dirty="0">
                <a:latin typeface="Times New Roman" panose="02020603050405020304" pitchFamily="18" charset="0"/>
                <a:cs typeface="Times New Roman" panose="02020603050405020304" pitchFamily="18" charset="0"/>
              </a:rPr>
              <a:t>A</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38868" y="1621878"/>
            <a:ext cx="10515600" cy="5236121"/>
          </a:xfrm>
        </p:spPr>
        <p:txBody>
          <a:bodyPr>
            <a:normAutofit fontScale="85000" lnSpcReduction="20000"/>
          </a:bodyPr>
          <a:lstStyle/>
          <a:p>
            <a:pPr lvl="0"/>
            <a:r>
              <a:rPr lang="en-US" dirty="0"/>
              <a:t>Abstract</a:t>
            </a:r>
          </a:p>
          <a:p>
            <a:pPr lvl="0"/>
            <a:r>
              <a:rPr lang="en-US" dirty="0"/>
              <a:t>Introduction</a:t>
            </a:r>
          </a:p>
          <a:p>
            <a:pPr lvl="0"/>
            <a:r>
              <a:rPr lang="en-US" dirty="0"/>
              <a:t>Existing system</a:t>
            </a:r>
          </a:p>
          <a:p>
            <a:pPr lvl="0"/>
            <a:r>
              <a:rPr lang="en-US" dirty="0"/>
              <a:t>Proposed system</a:t>
            </a:r>
          </a:p>
          <a:p>
            <a:pPr lvl="0"/>
            <a:r>
              <a:rPr lang="en-US" dirty="0"/>
              <a:t>Software and Hardware Requirements</a:t>
            </a:r>
          </a:p>
          <a:p>
            <a:pPr lvl="0"/>
            <a:r>
              <a:rPr lang="en-US" dirty="0"/>
              <a:t>Literature survey</a:t>
            </a:r>
          </a:p>
          <a:p>
            <a:pPr lvl="0"/>
            <a:r>
              <a:rPr lang="en-US" dirty="0"/>
              <a:t>UML Diagrams</a:t>
            </a:r>
          </a:p>
          <a:p>
            <a:pPr lvl="0"/>
            <a:r>
              <a:rPr lang="en-US" dirty="0"/>
              <a:t>Technologies</a:t>
            </a:r>
          </a:p>
          <a:p>
            <a:r>
              <a:rPr lang="en-US" dirty="0"/>
              <a:t>Modules Explanation</a:t>
            </a:r>
          </a:p>
          <a:p>
            <a:pPr lvl="0"/>
            <a:r>
              <a:rPr lang="en-US" dirty="0"/>
              <a:t>Output screens</a:t>
            </a:r>
          </a:p>
          <a:p>
            <a:pPr lvl="0"/>
            <a:r>
              <a:rPr lang="en-US" dirty="0"/>
              <a:t>Conclusion</a:t>
            </a:r>
          </a:p>
          <a:p>
            <a:pPr lvl="0"/>
            <a:r>
              <a:rPr lang="en-US" dirty="0"/>
              <a:t>Future scope</a:t>
            </a:r>
          </a:p>
          <a:p>
            <a:pPr lvl="0"/>
            <a:r>
              <a:rPr lang="en-US" dirty="0"/>
              <a:t>References</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24915"/>
          </a:xfrm>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Abstract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7" name="Rectangle 2">
            <a:extLst>
              <a:ext uri="{FF2B5EF4-FFF2-40B4-BE49-F238E27FC236}">
                <a16:creationId xmlns:a16="http://schemas.microsoft.com/office/drawing/2014/main" id="{E0A887B1-C0EA-AFC6-70A6-F64E96A67472}"/>
              </a:ext>
            </a:extLst>
          </p:cNvPr>
          <p:cNvSpPr>
            <a:spLocks noGrp="1" noChangeArrowheads="1"/>
          </p:cNvSpPr>
          <p:nvPr>
            <p:ph idx="1"/>
          </p:nvPr>
        </p:nvSpPr>
        <p:spPr bwMode="auto">
          <a:xfrm>
            <a:off x="1364016" y="2167493"/>
            <a:ext cx="998978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2000" dirty="0"/>
              <a:t>This paper presents </a:t>
            </a:r>
            <a:r>
              <a:rPr lang="en-US" sz="2000" dirty="0" err="1"/>
              <a:t>NeuroGuard</a:t>
            </a:r>
            <a:r>
              <a:rPr lang="en-US" sz="2000" dirty="0"/>
              <a:t>, an AI-based biometric authentication system designed to enhance digital security through facial identity verification. The system integrates multi-factor authentication with real-time face recognition and liveness detection to prevent spoofing attacks and unauthorized access. It extracts facial features and compares them with encrypted templates to ensure accurate authentication. Deep learning models improve recognition accuracy and system reliability. </a:t>
            </a:r>
            <a:r>
              <a:rPr lang="en-US" sz="2000" dirty="0" err="1"/>
              <a:t>NeuroGuard</a:t>
            </a:r>
            <a:r>
              <a:rPr lang="en-US" sz="2000" dirty="0"/>
              <a:t> strengthens access control systems and reduces identity fraud in digital environments.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Introduction</a:t>
            </a:r>
          </a:p>
        </p:txBody>
      </p:sp>
      <p:sp>
        <p:nvSpPr>
          <p:cNvPr id="4" name="Title 1"/>
          <p:cNvSpPr>
            <a:spLocks noGrp="1"/>
          </p:cNvSpPr>
          <p:nvPr/>
        </p:nvSpPr>
        <p:spPr>
          <a:xfrm>
            <a:off x="838200" y="365125"/>
            <a:ext cx="10515600" cy="12249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b="0" i="0" dirty="0">
              <a:solidFill>
                <a:srgbClr val="222222"/>
              </a:solidFill>
              <a:effectLst/>
              <a:latin typeface="Arial" panose="020B0604020202020204" pitchFamily="34" charset="0"/>
            </a:endParaRPr>
          </a:p>
        </p:txBody>
      </p:sp>
      <p:sp>
        <p:nvSpPr>
          <p:cNvPr id="5" name="Content Placeholder 2"/>
          <p:cNvSpPr>
            <a:spLocks noGrp="1"/>
          </p:cNvSpPr>
          <p:nvPr/>
        </p:nvSpPr>
        <p:spPr>
          <a:xfrm>
            <a:off x="1064342" y="1855944"/>
            <a:ext cx="10515600" cy="45872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None/>
            </a:pPr>
            <a:endParaRPr lang="en-IN" sz="24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8" name="Rectangle 12">
            <a:extLst>
              <a:ext uri="{FF2B5EF4-FFF2-40B4-BE49-F238E27FC236}">
                <a16:creationId xmlns:a16="http://schemas.microsoft.com/office/drawing/2014/main" id="{9539FE37-10E3-76ED-8415-6608CF37D906}"/>
              </a:ext>
            </a:extLst>
          </p:cNvPr>
          <p:cNvSpPr>
            <a:spLocks noChangeArrowheads="1"/>
          </p:cNvSpPr>
          <p:nvPr/>
        </p:nvSpPr>
        <p:spPr bwMode="auto">
          <a:xfrm>
            <a:off x="0" y="378509"/>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07BE2A5-8BF0-A0BA-CD22-6F518FC3E627}"/>
              </a:ext>
            </a:extLst>
          </p:cNvPr>
          <p:cNvSpPr>
            <a:spLocks noChangeArrowheads="1"/>
          </p:cNvSpPr>
          <p:nvPr/>
        </p:nvSpPr>
        <p:spPr bwMode="auto">
          <a:xfrm flipH="1">
            <a:off x="1738858" y="4394954"/>
            <a:ext cx="79747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Rise in identity fraud enhances reliability</a:t>
            </a:r>
          </a:p>
        </p:txBody>
      </p:sp>
      <p:sp>
        <p:nvSpPr>
          <p:cNvPr id="7" name="Rectangle 2">
            <a:extLst>
              <a:ext uri="{FF2B5EF4-FFF2-40B4-BE49-F238E27FC236}">
                <a16:creationId xmlns:a16="http://schemas.microsoft.com/office/drawing/2014/main" id="{75A7169C-C8CE-53EA-25E0-DA23B3615701}"/>
              </a:ext>
            </a:extLst>
          </p:cNvPr>
          <p:cNvSpPr>
            <a:spLocks noChangeArrowheads="1"/>
          </p:cNvSpPr>
          <p:nvPr/>
        </p:nvSpPr>
        <p:spPr bwMode="auto">
          <a:xfrm>
            <a:off x="1738858" y="1433460"/>
            <a:ext cx="486097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Growing need for secure authentication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Password-based systems are vulnerable to hacking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Biometric authentication provides higher security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and Deep Learning improve recognition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verification enhances reliability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Existing system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0" name="AutoShape 2" descr="Intel Core i5 Core 12400F Desktop Processor 18M Cache, up to 4.40 GHz : Buy  Online at Best Price in KSA - Souq is now Amazon.sa: Electronics">
            <a:extLst>
              <a:ext uri="{FF2B5EF4-FFF2-40B4-BE49-F238E27FC236}">
                <a16:creationId xmlns:a16="http://schemas.microsoft.com/office/drawing/2014/main" id="{C9EA7BCD-7F3A-50FF-C195-AB35CB8960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1">
            <a:extLst>
              <a:ext uri="{FF2B5EF4-FFF2-40B4-BE49-F238E27FC236}">
                <a16:creationId xmlns:a16="http://schemas.microsoft.com/office/drawing/2014/main" id="{7B49F8AA-3D8F-52C8-E417-BDC9E8197862}"/>
              </a:ext>
            </a:extLst>
          </p:cNvPr>
          <p:cNvSpPr>
            <a:spLocks noChangeArrowheads="1"/>
          </p:cNvSpPr>
          <p:nvPr/>
        </p:nvSpPr>
        <p:spPr bwMode="auto">
          <a:xfrm>
            <a:off x="1633928" y="1624219"/>
            <a:ext cx="568127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only username and password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Easily hackable or shareable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liveness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biometric validation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Vulnerable to spoofing attacks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Limited monitoring and logging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4" name="AutoShape 2" descr="Intel Core i5 Core 12400F Desktop Processor 18M Cache, up to 4.40 GHz : Buy  Online at Best Price in KSA - Souq is now Amazon.sa: Electronics">
            <a:extLst>
              <a:ext uri="{FF2B5EF4-FFF2-40B4-BE49-F238E27FC236}">
                <a16:creationId xmlns:a16="http://schemas.microsoft.com/office/drawing/2014/main" id="{281E92A4-FD14-39F6-C3F1-4D14347AF4F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Rectangle 1">
            <a:extLst>
              <a:ext uri="{FF2B5EF4-FFF2-40B4-BE49-F238E27FC236}">
                <a16:creationId xmlns:a16="http://schemas.microsoft.com/office/drawing/2014/main" id="{7C75F2E4-F5FD-037A-E424-EF55645EFFA9}"/>
              </a:ext>
            </a:extLst>
          </p:cNvPr>
          <p:cNvSpPr>
            <a:spLocks noChangeArrowheads="1"/>
          </p:cNvSpPr>
          <p:nvPr/>
        </p:nvSpPr>
        <p:spPr bwMode="auto">
          <a:xfrm>
            <a:off x="257243" y="3696187"/>
            <a:ext cx="1191944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CAF7F992-308C-D28B-B43C-EE2397BAEDC2}"/>
              </a:ext>
            </a:extLst>
          </p:cNvPr>
          <p:cNvSpPr>
            <a:spLocks noChangeArrowheads="1"/>
          </p:cNvSpPr>
          <p:nvPr/>
        </p:nvSpPr>
        <p:spPr bwMode="auto">
          <a:xfrm>
            <a:off x="1944973" y="1471045"/>
            <a:ext cx="640454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AI-based facial recognition login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Multi-factor authentication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Liveness detection (prevents photo/video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Encrypted biometric data storage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identity verification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access logs and monitoring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User-friendly interface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Software Requirements</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5" name="TextBox 4">
            <a:extLst>
              <a:ext uri="{FF2B5EF4-FFF2-40B4-BE49-F238E27FC236}">
                <a16:creationId xmlns:a16="http://schemas.microsoft.com/office/drawing/2014/main" id="{12F8EB52-057A-52D9-62D1-ADE3FF301367}"/>
              </a:ext>
            </a:extLst>
          </p:cNvPr>
          <p:cNvSpPr txBox="1"/>
          <p:nvPr/>
        </p:nvSpPr>
        <p:spPr>
          <a:xfrm>
            <a:off x="527723" y="1931562"/>
            <a:ext cx="10766847" cy="4191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IN" sz="2000" dirty="0"/>
              <a:t>Backend : Python (Flask/Django)</a:t>
            </a:r>
            <a:br>
              <a:rPr lang="en-IN" sz="2000" dirty="0"/>
            </a:br>
            <a:r>
              <a:rPr lang="en-IN" sz="2000" dirty="0"/>
              <a:t>Programming Language : Python 3.9+</a:t>
            </a:r>
            <a:br>
              <a:rPr lang="en-IN" sz="2000" dirty="0"/>
            </a:br>
            <a:r>
              <a:rPr lang="en-IN" sz="2000" dirty="0"/>
              <a:t>Face Recognition : OpenCV, Face Recognition Library</a:t>
            </a:r>
            <a:br>
              <a:rPr lang="en-IN" sz="2000" dirty="0"/>
            </a:br>
            <a:r>
              <a:rPr lang="en-IN" sz="2000" dirty="0"/>
              <a:t>Machine Learning : TensorFlow / </a:t>
            </a:r>
            <a:r>
              <a:rPr lang="en-IN" sz="2000" dirty="0" err="1"/>
              <a:t>PyTorch</a:t>
            </a:r>
            <a:br>
              <a:rPr lang="en-IN" sz="2000" dirty="0"/>
            </a:br>
            <a:r>
              <a:rPr lang="en-IN" sz="2000" dirty="0"/>
              <a:t>Frontend : HTML, CSS, JavaScript</a:t>
            </a:r>
            <a:br>
              <a:rPr lang="en-IN" sz="2000" dirty="0"/>
            </a:br>
            <a:r>
              <a:rPr lang="en-IN" sz="2000" dirty="0"/>
              <a:t>Database : SQLite / MySQL</a:t>
            </a:r>
            <a:br>
              <a:rPr lang="en-IN" sz="2000" dirty="0"/>
            </a:br>
            <a:r>
              <a:rPr lang="en-IN" sz="2000" dirty="0"/>
              <a:t>Development Tool : VS Code</a:t>
            </a:r>
            <a:br>
              <a:rPr lang="en-IN" sz="2000" dirty="0"/>
            </a:br>
            <a:r>
              <a:rPr lang="en-IN" sz="2000" dirty="0"/>
              <a:t>Operating System : Windows</a:t>
            </a:r>
          </a:p>
          <a:p>
            <a:pPr algn="l">
              <a:lnSpc>
                <a:spcPct val="150000"/>
              </a:lnSpc>
            </a:pPr>
            <a:endParaRPr lang="en-US" sz="2000" dirty="0">
              <a:latin typeface="Times New Roman"/>
              <a:cs typeface="Times New Roman"/>
            </a:endParaRPr>
          </a:p>
        </p:txBody>
      </p:sp>
      <p:pic>
        <p:nvPicPr>
          <p:cNvPr id="6" name="Picture 5">
            <a:extLst>
              <a:ext uri="{FF2B5EF4-FFF2-40B4-BE49-F238E27FC236}">
                <a16:creationId xmlns:a16="http://schemas.microsoft.com/office/drawing/2014/main" id="{CC7C4C53-0B2F-AB5B-DA4D-4FD6C16EE2AB}"/>
              </a:ext>
            </a:extLst>
          </p:cNvPr>
          <p:cNvPicPr>
            <a:picLocks noChangeAspect="1"/>
          </p:cNvPicPr>
          <p:nvPr/>
        </p:nvPicPr>
        <p:blipFill>
          <a:blip r:embed="rId3"/>
          <a:stretch>
            <a:fillRect/>
          </a:stretch>
        </p:blipFill>
        <p:spPr>
          <a:xfrm>
            <a:off x="9566076" y="3830704"/>
            <a:ext cx="2098201" cy="1608873"/>
          </a:xfrm>
          <a:prstGeom prst="rect">
            <a:avLst/>
          </a:prstGeom>
        </p:spPr>
      </p:pic>
      <p:pic>
        <p:nvPicPr>
          <p:cNvPr id="7" name="Picture 6">
            <a:extLst>
              <a:ext uri="{FF2B5EF4-FFF2-40B4-BE49-F238E27FC236}">
                <a16:creationId xmlns:a16="http://schemas.microsoft.com/office/drawing/2014/main" id="{791C57C0-02FD-6167-D51F-07619475F602}"/>
              </a:ext>
            </a:extLst>
          </p:cNvPr>
          <p:cNvPicPr>
            <a:picLocks noChangeAspect="1"/>
          </p:cNvPicPr>
          <p:nvPr/>
        </p:nvPicPr>
        <p:blipFill>
          <a:blip r:embed="rId4"/>
          <a:stretch>
            <a:fillRect/>
          </a:stretch>
        </p:blipFill>
        <p:spPr>
          <a:xfrm>
            <a:off x="7343202" y="5077349"/>
            <a:ext cx="2757481" cy="1304994"/>
          </a:xfrm>
          <a:prstGeom prst="rect">
            <a:avLst/>
          </a:prstGeom>
        </p:spPr>
      </p:pic>
      <p:pic>
        <p:nvPicPr>
          <p:cNvPr id="8" name="Picture 2" descr="Django Logo - Django Community | Django">
            <a:extLst>
              <a:ext uri="{FF2B5EF4-FFF2-40B4-BE49-F238E27FC236}">
                <a16:creationId xmlns:a16="http://schemas.microsoft.com/office/drawing/2014/main" id="{5D207D70-B7EE-95E0-D380-30AAA17B0D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9858" y="2264267"/>
            <a:ext cx="3113942" cy="13255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F4EEEF6-3FEC-92A9-BD99-570DB2DC35C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dirty="0"/>
          </a:p>
        </p:txBody>
      </p:sp>
      <p:sp>
        <p:nvSpPr>
          <p:cNvPr id="6" name="Content Placeholder 2">
            <a:extLst>
              <a:ext uri="{FF2B5EF4-FFF2-40B4-BE49-F238E27FC236}">
                <a16:creationId xmlns:a16="http://schemas.microsoft.com/office/drawing/2014/main" id="{A5F55B13-DCB6-0AB1-2F84-60BBBDC1FF18}"/>
              </a:ext>
            </a:extLst>
          </p:cNvPr>
          <p:cNvSpPr txBox="1">
            <a:spLocks/>
          </p:cNvSpPr>
          <p:nvPr/>
        </p:nvSpPr>
        <p:spPr>
          <a:xfrm>
            <a:off x="553720" y="1988185"/>
            <a:ext cx="5201285" cy="4189095"/>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IN" sz="1800" dirty="0">
              <a:latin typeface="Times New Roman" panose="02020603050405020304" pitchFamily="18" charset="0"/>
              <a:cs typeface="Times New Roman" panose="02020603050405020304" pitchFamily="18" charset="0"/>
            </a:endParaRPr>
          </a:p>
        </p:txBody>
      </p:sp>
      <p:sp>
        <p:nvSpPr>
          <p:cNvPr id="7" name="Content Placeholder 4">
            <a:extLst>
              <a:ext uri="{FF2B5EF4-FFF2-40B4-BE49-F238E27FC236}">
                <a16:creationId xmlns:a16="http://schemas.microsoft.com/office/drawing/2014/main" id="{5C237E12-1E8F-CD7A-5BC6-B5FF304F06C3}"/>
              </a:ext>
            </a:extLst>
          </p:cNvPr>
          <p:cNvSpPr txBox="1">
            <a:spLocks/>
          </p:cNvSpPr>
          <p:nvPr/>
        </p:nvSpPr>
        <p:spPr>
          <a:xfrm>
            <a:off x="6172200" y="1825625"/>
            <a:ext cx="5181600" cy="4351655"/>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US" sz="20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4673CCE4-1CA3-7E70-9758-01AE1857507B}"/>
              </a:ext>
            </a:extLst>
          </p:cNvPr>
          <p:cNvSpPr txBox="1">
            <a:spLocks/>
          </p:cNvSpPr>
          <p:nvPr/>
        </p:nvSpPr>
        <p:spPr>
          <a:xfrm>
            <a:off x="762001" y="530381"/>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222222"/>
                </a:solidFill>
                <a:latin typeface="Times New Roman" panose="02020603050405020304" pitchFamily="18" charset="0"/>
                <a:cs typeface="Times New Roman" panose="02020603050405020304" pitchFamily="18" charset="0"/>
              </a:rPr>
              <a:t>Hardware Requirements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9DCA89-6A32-E4AC-098F-7157055668AD}"/>
              </a:ext>
            </a:extLst>
          </p:cNvPr>
          <p:cNvSpPr txBox="1">
            <a:spLocks/>
          </p:cNvSpPr>
          <p:nvPr/>
        </p:nvSpPr>
        <p:spPr>
          <a:xfrm>
            <a:off x="553720" y="1988185"/>
            <a:ext cx="5201285" cy="4189095"/>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IN" sz="1800" dirty="0">
              <a:latin typeface="Times New Roman" panose="02020603050405020304" pitchFamily="18" charset="0"/>
              <a:cs typeface="Times New Roman" panose="02020603050405020304" pitchFamily="18" charset="0"/>
            </a:endParaRPr>
          </a:p>
        </p:txBody>
      </p:sp>
      <p:sp>
        <p:nvSpPr>
          <p:cNvPr id="4" name="Content Placeholder 4">
            <a:extLst>
              <a:ext uri="{FF2B5EF4-FFF2-40B4-BE49-F238E27FC236}">
                <a16:creationId xmlns:a16="http://schemas.microsoft.com/office/drawing/2014/main" id="{EA6978FA-0DA2-BF0E-4CCD-CCEF40C2348B}"/>
              </a:ext>
            </a:extLst>
          </p:cNvPr>
          <p:cNvSpPr txBox="1">
            <a:spLocks/>
          </p:cNvSpPr>
          <p:nvPr/>
        </p:nvSpPr>
        <p:spPr>
          <a:xfrm>
            <a:off x="6172200" y="1825625"/>
            <a:ext cx="5181600" cy="4351655"/>
          </a:xfrm>
          <a:prstGeom prst="rect">
            <a:avLst/>
          </a:prstGeom>
        </p:spPr>
        <p:txBody>
          <a:bodyPr>
            <a:normAutofit fontScale="97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60000"/>
              </a:lnSpc>
              <a:buNone/>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774CFFC-82C0-7D18-34F6-5B0E6B005E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10" name="TextBox 9">
            <a:extLst>
              <a:ext uri="{FF2B5EF4-FFF2-40B4-BE49-F238E27FC236}">
                <a16:creationId xmlns:a16="http://schemas.microsoft.com/office/drawing/2014/main" id="{1B3C1330-45FC-043C-E6F8-1D28C64A3A24}"/>
              </a:ext>
            </a:extLst>
          </p:cNvPr>
          <p:cNvSpPr txBox="1"/>
          <p:nvPr/>
        </p:nvSpPr>
        <p:spPr>
          <a:xfrm>
            <a:off x="1238233" y="1621880"/>
            <a:ext cx="7148530" cy="4445384"/>
          </a:xfrm>
          <a:prstGeom prst="rect">
            <a:avLst/>
          </a:prstGeom>
          <a:noFill/>
        </p:spPr>
        <p:txBody>
          <a:bodyPr wrap="square" lIns="91440" tIns="45720" rIns="91440" bIns="45720" rtlCol="0" anchor="t">
            <a:spAutoFit/>
          </a:bodyPr>
          <a:lstStyle/>
          <a:p>
            <a:pPr>
              <a:lnSpc>
                <a:spcPct val="150000"/>
              </a:lnSpc>
            </a:pPr>
            <a:r>
              <a:rPr lang="en-IN" sz="3200" dirty="0"/>
              <a:t>Processor : Intel i5 / </a:t>
            </a:r>
            <a:r>
              <a:rPr lang="en-IN" sz="3200" dirty="0" err="1"/>
              <a:t>Ryzen</a:t>
            </a:r>
            <a:r>
              <a:rPr lang="en-IN" sz="3200" dirty="0"/>
              <a:t> 5 or higher</a:t>
            </a:r>
            <a:br>
              <a:rPr lang="en-IN" sz="3200" dirty="0"/>
            </a:br>
            <a:r>
              <a:rPr lang="en-IN" sz="3200" dirty="0"/>
              <a:t>RAM : Minimum 8GB (16GB recommended)</a:t>
            </a:r>
            <a:br>
              <a:rPr lang="en-IN" sz="3200" dirty="0"/>
            </a:br>
            <a:r>
              <a:rPr lang="en-IN" sz="3200" dirty="0"/>
              <a:t>Storage : 20GB free space</a:t>
            </a:r>
            <a:br>
              <a:rPr lang="en-IN" sz="3200" dirty="0"/>
            </a:br>
            <a:r>
              <a:rPr lang="en-IN" sz="3200" dirty="0"/>
              <a:t>Webcam : Required for face capture</a:t>
            </a:r>
            <a:br>
              <a:rPr lang="en-IN" sz="3200" dirty="0"/>
            </a:br>
            <a:r>
              <a:rPr lang="en-IN" sz="3200" dirty="0"/>
              <a:t>Internet : For model updates</a:t>
            </a:r>
            <a:endParaRPr lang="en-IN" altLang="en-US" sz="32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F1839B7-EC19-ACAB-EFBF-7413C7E32E47}"/>
              </a:ext>
            </a:extLst>
          </p:cNvPr>
          <p:cNvPicPr>
            <a:picLocks noChangeAspect="1"/>
          </p:cNvPicPr>
          <p:nvPr/>
        </p:nvPicPr>
        <p:blipFill>
          <a:blip r:embed="rId3"/>
          <a:stretch>
            <a:fillRect/>
          </a:stretch>
        </p:blipFill>
        <p:spPr>
          <a:xfrm>
            <a:off x="9748200" y="4842902"/>
            <a:ext cx="1881543" cy="1824678"/>
          </a:xfrm>
          <a:prstGeom prst="rect">
            <a:avLst/>
          </a:prstGeom>
        </p:spPr>
      </p:pic>
      <p:pic>
        <p:nvPicPr>
          <p:cNvPr id="12" name="Picture 11">
            <a:extLst>
              <a:ext uri="{FF2B5EF4-FFF2-40B4-BE49-F238E27FC236}">
                <a16:creationId xmlns:a16="http://schemas.microsoft.com/office/drawing/2014/main" id="{FC2D8935-F024-F636-3A2A-0D9B165E017F}"/>
              </a:ext>
            </a:extLst>
          </p:cNvPr>
          <p:cNvPicPr>
            <a:picLocks noChangeAspect="1"/>
          </p:cNvPicPr>
          <p:nvPr/>
        </p:nvPicPr>
        <p:blipFill>
          <a:blip r:embed="rId4"/>
          <a:stretch>
            <a:fillRect/>
          </a:stretch>
        </p:blipFill>
        <p:spPr>
          <a:xfrm>
            <a:off x="8277084" y="1988185"/>
            <a:ext cx="2143125" cy="1846943"/>
          </a:xfrm>
          <a:prstGeom prst="rect">
            <a:avLst/>
          </a:prstGeom>
        </p:spPr>
      </p:pic>
    </p:spTree>
    <p:extLst>
      <p:ext uri="{BB962C8B-B14F-4D97-AF65-F5344CB8AC3E}">
        <p14:creationId xmlns:p14="http://schemas.microsoft.com/office/powerpoint/2010/main" val="4040706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630" y="199869"/>
            <a:ext cx="10515600" cy="1091498"/>
          </a:xfrm>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091498"/>
          </a:xfrm>
          <a:prstGeom prst="rect">
            <a:avLst/>
          </a:prstGeom>
        </p:spPr>
      </p:pic>
      <p:graphicFrame>
        <p:nvGraphicFramePr>
          <p:cNvPr id="8" name="Table 7">
            <a:extLst>
              <a:ext uri="{FF2B5EF4-FFF2-40B4-BE49-F238E27FC236}">
                <a16:creationId xmlns:a16="http://schemas.microsoft.com/office/drawing/2014/main" id="{7FD033AF-525F-3F86-5152-D8BE19D06C13}"/>
              </a:ext>
            </a:extLst>
          </p:cNvPr>
          <p:cNvGraphicFramePr>
            <a:graphicFrameLocks noGrp="1"/>
          </p:cNvGraphicFramePr>
          <p:nvPr>
            <p:extLst>
              <p:ext uri="{D42A27DB-BD31-4B8C-83A1-F6EECF244321}">
                <p14:modId xmlns:p14="http://schemas.microsoft.com/office/powerpoint/2010/main" val="4075372386"/>
              </p:ext>
            </p:extLst>
          </p:nvPr>
        </p:nvGraphicFramePr>
        <p:xfrm>
          <a:off x="166358" y="1602673"/>
          <a:ext cx="11859284" cy="5103493"/>
        </p:xfrm>
        <a:graphic>
          <a:graphicData uri="http://schemas.openxmlformats.org/drawingml/2006/table">
            <a:tbl>
              <a:tblPr firstRow="1" bandRow="1">
                <a:tableStyleId>{073A0DAA-6AF3-43AB-8588-CEC1D06C72B9}</a:tableStyleId>
              </a:tblPr>
              <a:tblGrid>
                <a:gridCol w="825546">
                  <a:extLst>
                    <a:ext uri="{9D8B030D-6E8A-4147-A177-3AD203B41FA5}">
                      <a16:colId xmlns:a16="http://schemas.microsoft.com/office/drawing/2014/main" val="2573132532"/>
                    </a:ext>
                  </a:extLst>
                </a:gridCol>
                <a:gridCol w="2990161">
                  <a:extLst>
                    <a:ext uri="{9D8B030D-6E8A-4147-A177-3AD203B41FA5}">
                      <a16:colId xmlns:a16="http://schemas.microsoft.com/office/drawing/2014/main" val="3568299169"/>
                    </a:ext>
                  </a:extLst>
                </a:gridCol>
                <a:gridCol w="2964425">
                  <a:extLst>
                    <a:ext uri="{9D8B030D-6E8A-4147-A177-3AD203B41FA5}">
                      <a16:colId xmlns:a16="http://schemas.microsoft.com/office/drawing/2014/main" val="1850379899"/>
                    </a:ext>
                  </a:extLst>
                </a:gridCol>
                <a:gridCol w="5079152">
                  <a:extLst>
                    <a:ext uri="{9D8B030D-6E8A-4147-A177-3AD203B41FA5}">
                      <a16:colId xmlns:a16="http://schemas.microsoft.com/office/drawing/2014/main" val="1733292758"/>
                    </a:ext>
                  </a:extLst>
                </a:gridCol>
              </a:tblGrid>
              <a:tr h="978375">
                <a:tc>
                  <a:txBody>
                    <a:bodyPr/>
                    <a:lstStyle/>
                    <a:p>
                      <a:pPr algn="just"/>
                      <a:endParaRPr lang="en-US" dirty="0"/>
                    </a:p>
                    <a:p>
                      <a:pPr algn="just"/>
                      <a:r>
                        <a:rPr lang="en-US" dirty="0"/>
                        <a:t>S.no.</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solidFill>
                          <a:schemeClr val="bg1"/>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bg1"/>
                          </a:solidFill>
                          <a:latin typeface="Calibri"/>
                        </a:rPr>
                        <a:t>   Author(s) &amp; Journal Details</a:t>
                      </a:r>
                      <a:endParaRPr lang="en-IN" b="1" dirty="0">
                        <a:solidFill>
                          <a:schemeClr val="bg1"/>
                        </a:solidFill>
                        <a:latin typeface="Calibri"/>
                        <a:ea typeface="Calibri"/>
                        <a:cs typeface="Calibri"/>
                      </a:endParaRPr>
                    </a:p>
                    <a:p>
                      <a:endParaRPr lang="en-IN" dirty="0"/>
                    </a:p>
                  </a:txBody>
                  <a:tcPr/>
                </a:tc>
                <a:tc>
                  <a:txBody>
                    <a:bodyPr/>
                    <a:lstStyle/>
                    <a:p>
                      <a:endParaRPr lang="en-IN" dirty="0"/>
                    </a:p>
                  </a:txBody>
                  <a:tcPr/>
                </a:tc>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5280702"/>
                  </a:ext>
                </a:extLst>
              </a:tr>
              <a:tr h="1271888">
                <a:tc>
                  <a:txBody>
                    <a:bodyPr/>
                    <a:lstStyle/>
                    <a:p>
                      <a:endParaRPr lang="en-US" dirty="0"/>
                    </a:p>
                    <a:p>
                      <a:r>
                        <a:rPr lang="en-US" dirty="0"/>
                        <a:t>   1</a:t>
                      </a:r>
                      <a:endParaRPr lang="en-IN" dirty="0"/>
                    </a:p>
                  </a:txBody>
                  <a:tcPr/>
                </a:tc>
                <a:tc>
                  <a:txBody>
                    <a:bodyPr/>
                    <a:lstStyle/>
                    <a:p>
                      <a:r>
                        <a:rPr lang="fr-FR" dirty="0"/>
                        <a:t>J. </a:t>
                      </a:r>
                      <a:r>
                        <a:rPr lang="fr-FR" dirty="0" err="1"/>
                        <a:t>Devlin</a:t>
                      </a:r>
                      <a:r>
                        <a:rPr lang="fr-FR" dirty="0"/>
                        <a:t>, M.-W. Chang, K. Lee, K. </a:t>
                      </a:r>
                      <a:r>
                        <a:rPr lang="fr-FR" dirty="0" err="1"/>
                        <a:t>Toutanova</a:t>
                      </a:r>
                      <a:r>
                        <a:rPr lang="fr-FR" dirty="0"/>
                        <a:t> — NAACL 2019</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t>BERT: Pre-training of Deep Bidirectional Transformers for Language Understanding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Introduced contextual embeddings that greatly improve downstream tasks like NER, QA, and text classification—strong base for information extraction.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2647178"/>
                  </a:ext>
                </a:extLst>
              </a:tr>
              <a:tr h="1426615">
                <a:tc>
                  <a:txBody>
                    <a:bodyPr/>
                    <a:lstStyle/>
                    <a:p>
                      <a:endParaRPr lang="en-US" dirty="0"/>
                    </a:p>
                    <a:p>
                      <a:r>
                        <a:rPr lang="en-US" dirty="0"/>
                        <a:t>   2</a:t>
                      </a:r>
                      <a:endParaRPr lang="en-IN" dirty="0"/>
                    </a:p>
                  </a:txBody>
                  <a:tcPr/>
                </a:tc>
                <a:tc>
                  <a:txBody>
                    <a:bodyPr/>
                    <a:lstStyle/>
                    <a:p>
                      <a:r>
                        <a:rPr lang="en-IN" dirty="0"/>
                        <a:t>G. Lample, M. Ballesteros, S. Subramanian, K. Kawakami, C. Dyer — ACL 2016</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t>Neural Architectures for Named Entity Recognition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Showed </a:t>
                      </a:r>
                      <a:r>
                        <a:rPr lang="en-US" dirty="0" err="1"/>
                        <a:t>BiLSTM</a:t>
                      </a:r>
                      <a:r>
                        <a:rPr lang="en-US" dirty="0"/>
                        <a:t>-CRF as an effective end-to-end method for extracting entities from text, reducing manual feature engineering.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4943627"/>
                  </a:ext>
                </a:extLst>
              </a:tr>
              <a:tr h="1426615">
                <a:tc>
                  <a:txBody>
                    <a:bodyPr/>
                    <a:lstStyle/>
                    <a:p>
                      <a:endParaRPr lang="en-US" dirty="0"/>
                    </a:p>
                    <a:p>
                      <a:r>
                        <a:rPr lang="en-US" dirty="0"/>
                        <a:t>   3</a:t>
                      </a:r>
                      <a:endParaRPr lang="en-IN" dirty="0"/>
                    </a:p>
                  </a:txBody>
                  <a:tcPr/>
                </a:tc>
                <a:tc>
                  <a:txBody>
                    <a:bodyPr/>
                    <a:lstStyle/>
                    <a:p>
                      <a:r>
                        <a:rPr lang="da-DK" dirty="0"/>
                        <a:t>Y. Xu et al. — KDD 2020</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err="1"/>
                        <a:t>LayoutLM</a:t>
                      </a:r>
                      <a:r>
                        <a:rPr lang="en-US" dirty="0"/>
                        <a:t>: Pre-training of Text and Layout for Document Understanding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Combined text with page layout for forms/invoices; boosted key-value extraction accuracy from scanned documents—useful for data extraction from PDFs.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6241081"/>
                  </a:ext>
                </a:extLst>
              </a:tr>
            </a:tbl>
          </a:graphicData>
        </a:graphic>
      </p:graphicFrame>
      <p:sp>
        <p:nvSpPr>
          <p:cNvPr id="9" name="TextBox 10">
            <a:extLst>
              <a:ext uri="{FF2B5EF4-FFF2-40B4-BE49-F238E27FC236}">
                <a16:creationId xmlns:a16="http://schemas.microsoft.com/office/drawing/2014/main" id="{0D4D0B74-97C7-A782-37B7-78891562A67E}"/>
              </a:ext>
            </a:extLst>
          </p:cNvPr>
          <p:cNvSpPr txBox="1"/>
          <p:nvPr/>
        </p:nvSpPr>
        <p:spPr>
          <a:xfrm>
            <a:off x="4053673" y="1852723"/>
            <a:ext cx="27432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b="1" dirty="0">
                <a:solidFill>
                  <a:srgbClr val="FFFFFF"/>
                </a:solidFill>
                <a:latin typeface="Calibri"/>
              </a:rPr>
              <a:t>Title of the paper</a:t>
            </a:r>
          </a:p>
        </p:txBody>
      </p:sp>
      <p:sp>
        <p:nvSpPr>
          <p:cNvPr id="10" name="TextBox 13">
            <a:extLst>
              <a:ext uri="{FF2B5EF4-FFF2-40B4-BE49-F238E27FC236}">
                <a16:creationId xmlns:a16="http://schemas.microsoft.com/office/drawing/2014/main" id="{4F02D2E9-1FAF-3BAF-5933-A13DFFFDB36A}"/>
              </a:ext>
            </a:extLst>
          </p:cNvPr>
          <p:cNvSpPr txBox="1"/>
          <p:nvPr/>
        </p:nvSpPr>
        <p:spPr>
          <a:xfrm>
            <a:off x="7810416" y="1852723"/>
            <a:ext cx="274320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1"/>
                </a:solidFill>
                <a:latin typeface="Calibri"/>
              </a:rPr>
              <a:t>Outcome</a:t>
            </a:r>
            <a:endParaRPr lang="en-US" b="1" dirty="0">
              <a:solidFill>
                <a:schemeClr val="bg1"/>
              </a:solidFill>
              <a:latin typeface="Calibri"/>
              <a:ea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630" y="199869"/>
            <a:ext cx="10515600" cy="1325563"/>
          </a:xfrm>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Architecture</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FFB0D328-0DA9-D4F2-A42D-0058F9688C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8141" y="1714500"/>
            <a:ext cx="8268890" cy="444698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UML Diagrams</a:t>
            </a:r>
            <a:br>
              <a:rPr lang="en-IN" b="1" i="0" dirty="0">
                <a:solidFill>
                  <a:srgbClr val="222222"/>
                </a:solidFill>
                <a:effectLst/>
                <a:latin typeface="Times New Roman" panose="02020603050405020304" pitchFamily="18" charset="0"/>
                <a:cs typeface="Times New Roman" panose="02020603050405020304" pitchFamily="18" charset="0"/>
              </a:rPr>
            </a:br>
            <a:r>
              <a:rPr lang="en-IN" sz="2800" b="1" i="0" dirty="0">
                <a:solidFill>
                  <a:srgbClr val="222222"/>
                </a:solidFill>
                <a:effectLst/>
                <a:latin typeface="Times New Roman" panose="02020603050405020304" pitchFamily="18" charset="0"/>
                <a:cs typeface="Times New Roman" panose="02020603050405020304" pitchFamily="18" charset="0"/>
              </a:rPr>
              <a:t>1.Class Diagram</a:t>
            </a:r>
            <a:endParaRPr lang="en-IN"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FC1FE5E6-83FF-BCE5-02EE-A66661D99A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9641" y="1357312"/>
            <a:ext cx="7215187" cy="50184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668" y="0"/>
            <a:ext cx="10515600" cy="1325563"/>
          </a:xfrm>
        </p:spPr>
        <p:txBody>
          <a:bodyPr>
            <a:normAutofit/>
          </a:bodyPr>
          <a:lstStyle/>
          <a:p>
            <a:pPr algn="ctr"/>
            <a:r>
              <a:rPr lang="en-IN" sz="2800" b="1" i="0" dirty="0">
                <a:solidFill>
                  <a:srgbClr val="222222"/>
                </a:solidFill>
                <a:effectLst/>
                <a:latin typeface="Times New Roman" panose="02020603050405020304" pitchFamily="18" charset="0"/>
                <a:cs typeface="Times New Roman" panose="02020603050405020304" pitchFamily="18" charset="0"/>
              </a:rPr>
              <a:t>2.Use Case Diagram</a:t>
            </a:r>
            <a:endParaRPr lang="en-IN"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1BD42984-12BC-AC98-4F06-DFCC67300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9833" y="1058995"/>
            <a:ext cx="4912333" cy="5418667"/>
          </a:xfrm>
          <a:prstGeom prst="rect">
            <a:avLst/>
          </a:prstGeom>
        </p:spPr>
      </p:pic>
    </p:spTree>
    <p:extLst>
      <p:ext uri="{BB962C8B-B14F-4D97-AF65-F5344CB8AC3E}">
        <p14:creationId xmlns:p14="http://schemas.microsoft.com/office/powerpoint/2010/main" val="190087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405"/>
            <a:ext cx="10515600" cy="1325563"/>
          </a:xfrm>
        </p:spPr>
        <p:txBody>
          <a:bodyPr>
            <a:normAutofit/>
          </a:bodyPr>
          <a:lstStyle/>
          <a:p>
            <a:pPr algn="ctr"/>
            <a:r>
              <a:rPr lang="en-IN" sz="2800" b="1" i="0" dirty="0">
                <a:solidFill>
                  <a:srgbClr val="222222"/>
                </a:solidFill>
                <a:effectLst/>
                <a:latin typeface="Times New Roman" panose="02020603050405020304" pitchFamily="18" charset="0"/>
                <a:cs typeface="Times New Roman" panose="02020603050405020304" pitchFamily="18" charset="0"/>
              </a:rPr>
              <a:t>3</a:t>
            </a:r>
            <a:r>
              <a:rPr lang="en-US" sz="2800" b="1" i="0" dirty="0">
                <a:solidFill>
                  <a:srgbClr val="222222"/>
                </a:solidFill>
                <a:effectLst/>
                <a:latin typeface="Times New Roman" panose="02020603050405020304" pitchFamily="18" charset="0"/>
                <a:cs typeface="Times New Roman" panose="02020603050405020304" pitchFamily="18" charset="0"/>
              </a:rPr>
              <a:t> </a:t>
            </a:r>
            <a:r>
              <a:rPr lang="en-US" sz="2800" b="1" dirty="0">
                <a:solidFill>
                  <a:srgbClr val="222222"/>
                </a:solidFill>
                <a:latin typeface="Times New Roman" panose="02020603050405020304" pitchFamily="18" charset="0"/>
                <a:cs typeface="Times New Roman" panose="02020603050405020304" pitchFamily="18" charset="0"/>
              </a:rPr>
              <a:t>Dataflow </a:t>
            </a:r>
            <a:r>
              <a:rPr lang="en-IN" sz="2800" b="1" i="0" dirty="0">
                <a:solidFill>
                  <a:srgbClr val="222222"/>
                </a:solidFill>
                <a:effectLst/>
                <a:latin typeface="Times New Roman" panose="02020603050405020304" pitchFamily="18" charset="0"/>
                <a:cs typeface="Times New Roman" panose="02020603050405020304" pitchFamily="18" charset="0"/>
              </a:rPr>
              <a:t>Diagram</a:t>
            </a:r>
            <a:endParaRPr lang="en-IN"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813" y="0"/>
            <a:ext cx="1106774" cy="1256754"/>
          </a:xfrm>
          <a:prstGeom prst="rect">
            <a:avLst/>
          </a:prstGeom>
        </p:spPr>
      </p:pic>
      <p:pic>
        <p:nvPicPr>
          <p:cNvPr id="6" name="Picture 5">
            <a:extLst>
              <a:ext uri="{FF2B5EF4-FFF2-40B4-BE49-F238E27FC236}">
                <a16:creationId xmlns:a16="http://schemas.microsoft.com/office/drawing/2014/main" id="{62857DE8-65C6-C690-CFBE-D87936C6BE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1720" y="1660922"/>
            <a:ext cx="7840264" cy="4071937"/>
          </a:xfrm>
          <a:prstGeom prst="rect">
            <a:avLst/>
          </a:prstGeom>
        </p:spPr>
      </p:pic>
    </p:spTree>
    <p:extLst>
      <p:ext uri="{BB962C8B-B14F-4D97-AF65-F5344CB8AC3E}">
        <p14:creationId xmlns:p14="http://schemas.microsoft.com/office/powerpoint/2010/main" val="1014724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6" name="Title 5">
            <a:extLst>
              <a:ext uri="{FF2B5EF4-FFF2-40B4-BE49-F238E27FC236}">
                <a16:creationId xmlns:a16="http://schemas.microsoft.com/office/drawing/2014/main" id="{B4127C83-EC11-6C07-B03D-EF062980B4BE}"/>
              </a:ext>
            </a:extLst>
          </p:cNvPr>
          <p:cNvSpPr>
            <a:spLocks noGrp="1"/>
          </p:cNvSpPr>
          <p:nvPr>
            <p:ph type="title"/>
          </p:nvPr>
        </p:nvSpPr>
        <p:spPr>
          <a:xfrm>
            <a:off x="3446858" y="365125"/>
            <a:ext cx="7906941" cy="1420813"/>
          </a:xfrm>
        </p:spPr>
        <p:txBody>
          <a:bodyPr/>
          <a:lstStyle/>
          <a:p>
            <a:r>
              <a:rPr lang="en-US" b="1" dirty="0"/>
              <a:t>4.Sequence diagram </a:t>
            </a:r>
          </a:p>
        </p:txBody>
      </p:sp>
      <p:pic>
        <p:nvPicPr>
          <p:cNvPr id="3" name="Picture 2">
            <a:extLst>
              <a:ext uri="{FF2B5EF4-FFF2-40B4-BE49-F238E27FC236}">
                <a16:creationId xmlns:a16="http://schemas.microsoft.com/office/drawing/2014/main" id="{6147C33B-1421-7219-2B2D-7DED01829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6525" y="1607344"/>
            <a:ext cx="7128272" cy="4060030"/>
          </a:xfrm>
          <a:prstGeom prst="rect">
            <a:avLst/>
          </a:prstGeom>
        </p:spPr>
      </p:pic>
    </p:spTree>
    <p:extLst>
      <p:ext uri="{BB962C8B-B14F-4D97-AF65-F5344CB8AC3E}">
        <p14:creationId xmlns:p14="http://schemas.microsoft.com/office/powerpoint/2010/main" val="869444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0" i="0" dirty="0">
                <a:solidFill>
                  <a:srgbClr val="222222"/>
                </a:solidFill>
                <a:effectLst/>
                <a:latin typeface="Arial" panose="020B0604020202020204" pitchFamily="34" charset="0"/>
              </a:rPr>
              <a:t> </a:t>
            </a:r>
            <a:r>
              <a:rPr lang="en-IN" b="1" i="0" dirty="0">
                <a:solidFill>
                  <a:srgbClr val="222222"/>
                </a:solidFill>
                <a:effectLst/>
                <a:latin typeface="Times New Roman" panose="02020603050405020304" pitchFamily="18" charset="0"/>
                <a:cs typeface="Times New Roman" panose="02020603050405020304" pitchFamily="18" charset="0"/>
              </a:rPr>
              <a:t>Technologies Used</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080" name="Picture 8" descr="Create JavaScript Charts with Chart.js">
            <a:extLst>
              <a:ext uri="{FF2B5EF4-FFF2-40B4-BE49-F238E27FC236}">
                <a16:creationId xmlns:a16="http://schemas.microsoft.com/office/drawing/2014/main" id="{F3306C3C-90FD-6722-1500-E9D2EE7343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64" t="18096" r="23647" b="25966"/>
          <a:stretch/>
        </p:blipFill>
        <p:spPr bwMode="auto">
          <a:xfrm>
            <a:off x="8332141" y="3843959"/>
            <a:ext cx="2540977" cy="13392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709BD87-049B-85DE-CF8D-2226658427D8}"/>
              </a:ext>
            </a:extLst>
          </p:cNvPr>
          <p:cNvSpPr txBox="1"/>
          <p:nvPr/>
        </p:nvSpPr>
        <p:spPr>
          <a:xfrm>
            <a:off x="653358" y="1281921"/>
            <a:ext cx="6413003" cy="5632311"/>
          </a:xfrm>
          <a:prstGeom prst="rect">
            <a:avLst/>
          </a:prstGeom>
          <a:noFill/>
        </p:spPr>
        <p:txBody>
          <a:bodyPr wrap="square">
            <a:spAutoFit/>
          </a:bodyPr>
          <a:lstStyle/>
          <a:p>
            <a:pPr>
              <a:buNone/>
            </a:pPr>
            <a:endParaRPr lang="en-US" dirty="0"/>
          </a:p>
          <a:p>
            <a:pPr>
              <a:buNone/>
            </a:pPr>
            <a:endParaRPr lang="en-US" b="1" dirty="0"/>
          </a:p>
          <a:p>
            <a:pPr>
              <a:buNone/>
            </a:pPr>
            <a:r>
              <a:rPr lang="en-US" b="1" dirty="0"/>
              <a:t>Frontend Technologies </a:t>
            </a:r>
          </a:p>
          <a:p>
            <a:pPr>
              <a:buNone/>
            </a:pPr>
            <a:endParaRPr lang="en-US" b="1" dirty="0"/>
          </a:p>
          <a:p>
            <a:r>
              <a:rPr lang="en-US" b="1" dirty="0"/>
              <a:t>HTML, CSS, JavaScript</a:t>
            </a:r>
            <a:br>
              <a:rPr lang="en-US" dirty="0"/>
            </a:br>
            <a:r>
              <a:rPr lang="en-US" dirty="0"/>
              <a:t>• For building user-friendly interface and visualization.</a:t>
            </a:r>
          </a:p>
          <a:p>
            <a:pPr>
              <a:buFont typeface="Arial" panose="020B0604020202020204" pitchFamily="34" charset="0"/>
              <a:buChar char="•"/>
            </a:pPr>
            <a:endParaRPr lang="en-US" dirty="0"/>
          </a:p>
          <a:p>
            <a:r>
              <a:rPr lang="en-US" b="1" dirty="0" err="1"/>
              <a:t>Chart.js</a:t>
            </a:r>
            <a:r>
              <a:rPr lang="en-US" b="1" dirty="0"/>
              <a:t> / </a:t>
            </a:r>
            <a:r>
              <a:rPr lang="en-US" b="1" dirty="0" err="1"/>
              <a:t>Matplotlib</a:t>
            </a:r>
            <a:r>
              <a:rPr lang="en-US" b="1" dirty="0"/>
              <a:t> / </a:t>
            </a:r>
            <a:r>
              <a:rPr lang="en-US" b="1" dirty="0" err="1"/>
              <a:t>Seaborn</a:t>
            </a:r>
            <a:br>
              <a:rPr lang="en-US" dirty="0"/>
            </a:br>
            <a:r>
              <a:rPr lang="en-US" dirty="0"/>
              <a:t>• For displaying interactive graphs and charts of NLP results</a:t>
            </a:r>
          </a:p>
          <a:p>
            <a:endParaRPr lang="en-US" dirty="0"/>
          </a:p>
          <a:p>
            <a:r>
              <a:rPr lang="en-US" b="1" dirty="0"/>
              <a:t>Database Technologies :</a:t>
            </a:r>
          </a:p>
          <a:p>
            <a:r>
              <a:rPr lang="en-US" b="1" dirty="0"/>
              <a:t>SQLite / MySQL</a:t>
            </a:r>
            <a:br>
              <a:rPr lang="en-US" dirty="0"/>
            </a:br>
            <a:r>
              <a:rPr lang="en-US" dirty="0"/>
              <a:t>• To store extracted text data, processed features, and analysis results.</a:t>
            </a:r>
          </a:p>
          <a:p>
            <a:br>
              <a:rPr lang="en-US" dirty="0"/>
            </a:br>
            <a:endParaRPr lang="en-US" dirty="0"/>
          </a:p>
          <a:p>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dirty="0"/>
          </a:p>
          <a:p>
            <a:pPr>
              <a:buNone/>
            </a:pPr>
            <a:endParaRPr lang="en-US" dirty="0"/>
          </a:p>
        </p:txBody>
      </p:sp>
      <p:pic>
        <p:nvPicPr>
          <p:cNvPr id="3" name="Picture 2">
            <a:extLst>
              <a:ext uri="{FF2B5EF4-FFF2-40B4-BE49-F238E27FC236}">
                <a16:creationId xmlns:a16="http://schemas.microsoft.com/office/drawing/2014/main" id="{20E75048-321F-150C-BFD6-AF6B2B0E83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6361" y="2002913"/>
            <a:ext cx="3932098" cy="13826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CA7DF-B804-CD06-C356-A468B95F8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CFDB2-4257-AE22-38DF-69634913BA27}"/>
              </a:ext>
            </a:extLst>
          </p:cNvPr>
          <p:cNvSpPr>
            <a:spLocks noGrp="1"/>
          </p:cNvSpPr>
          <p:nvPr>
            <p:ph type="title"/>
          </p:nvPr>
        </p:nvSpPr>
        <p:spPr/>
        <p:txBody>
          <a:bodyPr/>
          <a:lstStyle/>
          <a:p>
            <a:pPr algn="ctr"/>
            <a:r>
              <a:rPr lang="en-IN" b="0" i="0" dirty="0">
                <a:solidFill>
                  <a:srgbClr val="222222"/>
                </a:solidFill>
                <a:effectLst/>
                <a:latin typeface="Arial" panose="020B0604020202020204" pitchFamily="34" charset="0"/>
              </a:rPr>
              <a:t> </a:t>
            </a:r>
            <a:r>
              <a:rPr lang="en-IN" b="1" i="0" dirty="0">
                <a:solidFill>
                  <a:srgbClr val="222222"/>
                </a:solidFill>
                <a:effectLst/>
                <a:latin typeface="Times New Roman" panose="02020603050405020304" pitchFamily="18" charset="0"/>
                <a:cs typeface="Times New Roman" panose="02020603050405020304" pitchFamily="18" charset="0"/>
              </a:rPr>
              <a:t>Technologies Used</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F231A4D-444C-37DF-D5BD-C4506BBEB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6" name="TextBox 5">
            <a:extLst>
              <a:ext uri="{FF2B5EF4-FFF2-40B4-BE49-F238E27FC236}">
                <a16:creationId xmlns:a16="http://schemas.microsoft.com/office/drawing/2014/main" id="{D1143957-5B4F-CFFB-6564-25D8F6139CA7}"/>
              </a:ext>
            </a:extLst>
          </p:cNvPr>
          <p:cNvSpPr txBox="1"/>
          <p:nvPr/>
        </p:nvSpPr>
        <p:spPr>
          <a:xfrm>
            <a:off x="257243" y="1456622"/>
            <a:ext cx="8841581" cy="5078313"/>
          </a:xfrm>
          <a:prstGeom prst="rect">
            <a:avLst/>
          </a:prstGeom>
          <a:noFill/>
        </p:spPr>
        <p:txBody>
          <a:bodyPr wrap="square">
            <a:spAutoFit/>
          </a:bodyPr>
          <a:lstStyle/>
          <a:p>
            <a:pPr>
              <a:buNone/>
            </a:pPr>
            <a:endParaRPr lang="en-US" dirty="0"/>
          </a:p>
          <a:p>
            <a:r>
              <a:rPr lang="en-US" b="1" dirty="0"/>
              <a:t>Backend Technologies :</a:t>
            </a:r>
          </a:p>
          <a:p>
            <a:r>
              <a:rPr lang="en-US" b="1" dirty="0"/>
              <a:t>Python</a:t>
            </a:r>
            <a:br>
              <a:rPr lang="en-US" dirty="0"/>
            </a:br>
            <a:r>
              <a:rPr lang="en-US" dirty="0"/>
              <a:t>• Core language for implementing NLP and backend logic.</a:t>
            </a:r>
          </a:p>
          <a:p>
            <a:r>
              <a:rPr lang="en-US" b="1" dirty="0"/>
              <a:t>Flask / Django</a:t>
            </a:r>
            <a:br>
              <a:rPr lang="en-US" dirty="0"/>
            </a:br>
            <a:r>
              <a:rPr lang="en-US" dirty="0"/>
              <a:t>• Web framework for backend API and integration.</a:t>
            </a:r>
          </a:p>
          <a:p>
            <a:br>
              <a:rPr lang="en-US" dirty="0"/>
            </a:br>
            <a:r>
              <a:rPr lang="en-US" b="1" dirty="0"/>
              <a:t>NLP &amp; Machine Learning Libraries :</a:t>
            </a:r>
          </a:p>
          <a:p>
            <a:r>
              <a:rPr lang="en-US" b="1" dirty="0"/>
              <a:t>NLTK (Natural Language Toolkit)</a:t>
            </a:r>
            <a:br>
              <a:rPr lang="en-US" dirty="0"/>
            </a:br>
            <a:r>
              <a:rPr lang="en-US" dirty="0"/>
              <a:t>• Tokenization, stop-word removal, POS tagging, stemming &amp; lemmatization.</a:t>
            </a:r>
          </a:p>
          <a:p>
            <a:r>
              <a:rPr lang="en-US" b="1" dirty="0" err="1"/>
              <a:t>spaCy</a:t>
            </a:r>
            <a:br>
              <a:rPr lang="en-US" dirty="0"/>
            </a:br>
            <a:r>
              <a:rPr lang="en-US" dirty="0"/>
              <a:t>• Named Entity Recognition (NER), dependency parsing, and text processing.</a:t>
            </a:r>
          </a:p>
          <a:p>
            <a:r>
              <a:rPr lang="en-US" b="1" dirty="0" err="1"/>
              <a:t>Scikit</a:t>
            </a:r>
            <a:r>
              <a:rPr lang="en-US" b="1" dirty="0"/>
              <a:t>-learn</a:t>
            </a:r>
            <a:br>
              <a:rPr lang="en-US" dirty="0"/>
            </a:br>
            <a:r>
              <a:rPr lang="en-US" dirty="0"/>
              <a:t>• Text classification, clustering, sentiment analysis.</a:t>
            </a:r>
          </a:p>
          <a:p>
            <a:r>
              <a:rPr lang="en-US" b="1" dirty="0"/>
              <a:t>Transformers (Hugging Face)</a:t>
            </a:r>
            <a:br>
              <a:rPr lang="en-US" dirty="0"/>
            </a:br>
            <a:r>
              <a:rPr lang="en-US" dirty="0"/>
              <a:t>• Pre-trained language models like BERT, </a:t>
            </a:r>
            <a:r>
              <a:rPr lang="en-US" dirty="0" err="1"/>
              <a:t>RoBERTa</a:t>
            </a:r>
            <a:r>
              <a:rPr lang="en-US" dirty="0"/>
              <a:t> for advanced NLP tasks</a:t>
            </a:r>
          </a:p>
          <a:p>
            <a:endParaRPr lang="en-US" b="1" dirty="0"/>
          </a:p>
          <a:p>
            <a:pPr>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1E792C57-4627-752D-2BE2-1E8DB656F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7484" y="4300094"/>
            <a:ext cx="2607469" cy="1101284"/>
          </a:xfrm>
          <a:prstGeom prst="rect">
            <a:avLst/>
          </a:prstGeom>
        </p:spPr>
      </p:pic>
      <p:pic>
        <p:nvPicPr>
          <p:cNvPr id="7" name="Picture 6">
            <a:extLst>
              <a:ext uri="{FF2B5EF4-FFF2-40B4-BE49-F238E27FC236}">
                <a16:creationId xmlns:a16="http://schemas.microsoft.com/office/drawing/2014/main" id="{D4F261A5-3476-A085-B673-DE3D0CFCF8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97453" y="2889539"/>
            <a:ext cx="2607470" cy="831962"/>
          </a:xfrm>
          <a:prstGeom prst="rect">
            <a:avLst/>
          </a:prstGeom>
        </p:spPr>
      </p:pic>
      <p:pic>
        <p:nvPicPr>
          <p:cNvPr id="8" name="Picture 7">
            <a:extLst>
              <a:ext uri="{FF2B5EF4-FFF2-40B4-BE49-F238E27FC236}">
                <a16:creationId xmlns:a16="http://schemas.microsoft.com/office/drawing/2014/main" id="{B5AAD944-9701-254F-E0C8-DABA604319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5451" y="1690688"/>
            <a:ext cx="2953845" cy="831962"/>
          </a:xfrm>
          <a:prstGeom prst="rect">
            <a:avLst/>
          </a:prstGeom>
        </p:spPr>
      </p:pic>
    </p:spTree>
    <p:extLst>
      <p:ext uri="{BB962C8B-B14F-4D97-AF65-F5344CB8AC3E}">
        <p14:creationId xmlns:p14="http://schemas.microsoft.com/office/powerpoint/2010/main" val="1202226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solidFill>
                  <a:srgbClr val="222222"/>
                </a:solidFill>
                <a:latin typeface="Times New Roman" panose="02020603050405020304" pitchFamily="18" charset="0"/>
                <a:cs typeface="Times New Roman" panose="02020603050405020304" pitchFamily="18" charset="0"/>
              </a:rPr>
              <a:t>Module Description</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7" name="TextBox 6">
            <a:extLst>
              <a:ext uri="{FF2B5EF4-FFF2-40B4-BE49-F238E27FC236}">
                <a16:creationId xmlns:a16="http://schemas.microsoft.com/office/drawing/2014/main" id="{419B1C92-F7F9-7E74-5A96-8E3377EFC50B}"/>
              </a:ext>
            </a:extLst>
          </p:cNvPr>
          <p:cNvSpPr txBox="1"/>
          <p:nvPr/>
        </p:nvSpPr>
        <p:spPr>
          <a:xfrm>
            <a:off x="1696641" y="1456623"/>
            <a:ext cx="6125765" cy="5078313"/>
          </a:xfrm>
          <a:prstGeom prst="rect">
            <a:avLst/>
          </a:prstGeom>
          <a:noFill/>
        </p:spPr>
        <p:txBody>
          <a:bodyPr wrap="square">
            <a:spAutoFit/>
          </a:bodyPr>
          <a:lstStyle/>
          <a:p>
            <a:pPr>
              <a:buNone/>
            </a:pPr>
            <a:endParaRPr lang="en-US" dirty="0"/>
          </a:p>
          <a:p>
            <a:pPr>
              <a:buNone/>
            </a:pPr>
            <a:br>
              <a:rPr lang="en-US" dirty="0"/>
            </a:br>
            <a:endParaRPr lang="en-US" b="1" dirty="0"/>
          </a:p>
          <a:p>
            <a:pPr>
              <a:buNone/>
            </a:pPr>
            <a:r>
              <a:rPr lang="en-US" b="1" dirty="0"/>
              <a:t>1. Data Collection &amp; Preprocessing</a:t>
            </a:r>
          </a:p>
          <a:p>
            <a:pPr>
              <a:buFont typeface="Arial" panose="020B0604020202020204" pitchFamily="34" charset="0"/>
              <a:buChar char="•"/>
            </a:pPr>
            <a:r>
              <a:rPr lang="en-US" dirty="0"/>
              <a:t>Collects text data from files or web.</a:t>
            </a:r>
          </a:p>
          <a:p>
            <a:pPr>
              <a:buFont typeface="Arial" panose="020B0604020202020204" pitchFamily="34" charset="0"/>
              <a:buChar char="•"/>
            </a:pPr>
            <a:r>
              <a:rPr lang="en-US" dirty="0"/>
              <a:t>Cleans unwanted symbols and stop words.</a:t>
            </a:r>
          </a:p>
          <a:p>
            <a:pPr>
              <a:buFont typeface="Arial" panose="020B0604020202020204" pitchFamily="34" charset="0"/>
              <a:buChar char="•"/>
            </a:pPr>
            <a:r>
              <a:rPr lang="en-US" dirty="0"/>
              <a:t>Splits text into tokens (words).</a:t>
            </a:r>
          </a:p>
          <a:p>
            <a:pPr>
              <a:buFont typeface="Arial" panose="020B0604020202020204" pitchFamily="34" charset="0"/>
              <a:buChar char="•"/>
            </a:pPr>
            <a:r>
              <a:rPr lang="en-US" dirty="0"/>
              <a:t>Converts words into their basic form.</a:t>
            </a:r>
          </a:p>
          <a:p>
            <a:pPr>
              <a:buNone/>
            </a:pPr>
            <a:br>
              <a:rPr lang="en-US" dirty="0"/>
            </a:br>
            <a:endParaRPr lang="en-US" dirty="0"/>
          </a:p>
          <a:p>
            <a:pPr>
              <a:buNone/>
            </a:pPr>
            <a:r>
              <a:rPr lang="en-US" b="1" dirty="0"/>
              <a:t>2. NLP Processing &amp; Feature Extraction</a:t>
            </a:r>
          </a:p>
          <a:p>
            <a:pPr>
              <a:buFont typeface="Arial" panose="020B0604020202020204" pitchFamily="34" charset="0"/>
              <a:buChar char="•"/>
            </a:pPr>
            <a:r>
              <a:rPr lang="en-US" dirty="0"/>
              <a:t>Finds parts of speech (noun, verb, etc.).</a:t>
            </a:r>
          </a:p>
          <a:p>
            <a:pPr>
              <a:buFont typeface="Arial" panose="020B0604020202020204" pitchFamily="34" charset="0"/>
              <a:buChar char="•"/>
            </a:pPr>
            <a:r>
              <a:rPr lang="en-US" dirty="0"/>
              <a:t>Detects names, places, and dates (NER).</a:t>
            </a:r>
          </a:p>
          <a:p>
            <a:pPr>
              <a:buFont typeface="Arial" panose="020B0604020202020204" pitchFamily="34" charset="0"/>
              <a:buChar char="•"/>
            </a:pPr>
            <a:r>
              <a:rPr lang="en-US" dirty="0"/>
              <a:t>Creates word representations (TF-IDF, </a:t>
            </a:r>
            <a:r>
              <a:rPr lang="en-US" dirty="0" err="1"/>
              <a:t>embeddings</a:t>
            </a:r>
            <a:r>
              <a:rPr lang="en-US" dirty="0"/>
              <a:t>).</a:t>
            </a:r>
          </a:p>
          <a:p>
            <a:pPr>
              <a:buFont typeface="Arial" panose="020B0604020202020204" pitchFamily="34" charset="0"/>
              <a:buChar char="•"/>
            </a:pPr>
            <a:r>
              <a:rPr lang="en-US" dirty="0"/>
              <a:t>Picks out keywords and important phrases.</a:t>
            </a:r>
          </a:p>
          <a:p>
            <a:pPr>
              <a:buNone/>
            </a:pPr>
            <a:br>
              <a:rPr lang="en-US" dirty="0"/>
            </a:br>
            <a:endParaRPr lang="en-US" dirty="0"/>
          </a:p>
          <a:p>
            <a:pPr>
              <a:buNone/>
            </a:pPr>
            <a:endParaRPr lang="en-US" dirty="0"/>
          </a:p>
        </p:txBody>
      </p:sp>
    </p:spTree>
    <p:extLst>
      <p:ext uri="{BB962C8B-B14F-4D97-AF65-F5344CB8AC3E}">
        <p14:creationId xmlns:p14="http://schemas.microsoft.com/office/powerpoint/2010/main" val="2033381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2D551-82CC-DF68-B0A1-940AE2F61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AD35C-9F15-7D79-E417-51D52F47EB10}"/>
              </a:ext>
            </a:extLst>
          </p:cNvPr>
          <p:cNvSpPr>
            <a:spLocks noGrp="1"/>
          </p:cNvSpPr>
          <p:nvPr>
            <p:ph type="title"/>
          </p:nvPr>
        </p:nvSpPr>
        <p:spPr/>
        <p:txBody>
          <a:bodyPr/>
          <a:lstStyle/>
          <a:p>
            <a:pPr algn="ctr"/>
            <a:r>
              <a:rPr lang="en-IN" b="1" dirty="0">
                <a:solidFill>
                  <a:srgbClr val="222222"/>
                </a:solidFill>
                <a:latin typeface="Times New Roman" panose="02020603050405020304" pitchFamily="18" charset="0"/>
                <a:cs typeface="Times New Roman" panose="02020603050405020304" pitchFamily="18" charset="0"/>
              </a:rPr>
              <a:t>Module Description</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98269C9-0C30-8110-64EE-EFE1667D87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9" name="TextBox 8">
            <a:extLst>
              <a:ext uri="{FF2B5EF4-FFF2-40B4-BE49-F238E27FC236}">
                <a16:creationId xmlns:a16="http://schemas.microsoft.com/office/drawing/2014/main" id="{25161946-9D09-CCD1-C8E0-17FBDA7114AA}"/>
              </a:ext>
            </a:extLst>
          </p:cNvPr>
          <p:cNvSpPr txBox="1"/>
          <p:nvPr/>
        </p:nvSpPr>
        <p:spPr>
          <a:xfrm>
            <a:off x="1944974" y="1236494"/>
            <a:ext cx="6841839" cy="4801314"/>
          </a:xfrm>
          <a:prstGeom prst="rect">
            <a:avLst/>
          </a:prstGeom>
          <a:noFill/>
        </p:spPr>
        <p:txBody>
          <a:bodyPr wrap="square">
            <a:spAutoFit/>
          </a:bodyPr>
          <a:lstStyle/>
          <a:p>
            <a:pPr>
              <a:buNone/>
            </a:pPr>
            <a:endParaRPr lang="en-US" dirty="0"/>
          </a:p>
          <a:p>
            <a:pPr>
              <a:buNone/>
            </a:pPr>
            <a:br>
              <a:rPr lang="en-US" dirty="0"/>
            </a:br>
            <a:endParaRPr lang="en-US" dirty="0"/>
          </a:p>
          <a:p>
            <a:pPr>
              <a:buNone/>
            </a:pPr>
            <a:r>
              <a:rPr lang="en-US" b="1" dirty="0"/>
              <a:t>3. Analysis &amp; Visualization</a:t>
            </a:r>
          </a:p>
          <a:p>
            <a:pPr>
              <a:buFont typeface="Arial" panose="020B0604020202020204" pitchFamily="34" charset="0"/>
              <a:buChar char="•"/>
            </a:pPr>
            <a:r>
              <a:rPr lang="en-US" dirty="0"/>
              <a:t>Checks text sentiment (positive/negative/neutral).</a:t>
            </a:r>
          </a:p>
          <a:p>
            <a:pPr>
              <a:buFont typeface="Arial" panose="020B0604020202020204" pitchFamily="34" charset="0"/>
              <a:buChar char="•"/>
            </a:pPr>
            <a:r>
              <a:rPr lang="en-US" dirty="0"/>
              <a:t>Groups text into categories or clusters.</a:t>
            </a:r>
          </a:p>
          <a:p>
            <a:pPr>
              <a:buFont typeface="Arial" panose="020B0604020202020204" pitchFamily="34" charset="0"/>
              <a:buChar char="•"/>
            </a:pPr>
            <a:r>
              <a:rPr lang="en-US" dirty="0"/>
              <a:t>Finds hidden topics in documents.</a:t>
            </a:r>
          </a:p>
          <a:p>
            <a:pPr>
              <a:buFont typeface="Arial" panose="020B0604020202020204" pitchFamily="34" charset="0"/>
              <a:buChar char="•"/>
            </a:pPr>
            <a:r>
              <a:rPr lang="en-US" dirty="0"/>
              <a:t>Shows results using charts and word clouds.</a:t>
            </a:r>
          </a:p>
          <a:p>
            <a:pPr>
              <a:buNone/>
            </a:pPr>
            <a:br>
              <a:rPr lang="en-US" dirty="0"/>
            </a:br>
            <a:endParaRPr lang="en-US" dirty="0"/>
          </a:p>
          <a:p>
            <a:pPr>
              <a:buNone/>
            </a:pPr>
            <a:r>
              <a:rPr lang="en-US" b="1" dirty="0"/>
              <a:t>4. User Dashboard &amp; Management</a:t>
            </a:r>
          </a:p>
          <a:p>
            <a:pPr>
              <a:buFont typeface="Arial" panose="020B0604020202020204" pitchFamily="34" charset="0"/>
              <a:buChar char="•"/>
            </a:pPr>
            <a:r>
              <a:rPr lang="en-US" dirty="0"/>
              <a:t>Easy interface for users.</a:t>
            </a:r>
          </a:p>
          <a:p>
            <a:pPr>
              <a:buFont typeface="Arial" panose="020B0604020202020204" pitchFamily="34" charset="0"/>
              <a:buChar char="•"/>
            </a:pPr>
            <a:r>
              <a:rPr lang="en-US" dirty="0"/>
              <a:t>Upload text data for analysis.</a:t>
            </a:r>
          </a:p>
          <a:p>
            <a:pPr>
              <a:buFont typeface="Arial" panose="020B0604020202020204" pitchFamily="34" charset="0"/>
              <a:buChar char="•"/>
            </a:pPr>
            <a:r>
              <a:rPr lang="en-US" dirty="0"/>
              <a:t>View results in dashboard.</a:t>
            </a:r>
          </a:p>
          <a:p>
            <a:pPr>
              <a:buFont typeface="Arial" panose="020B0604020202020204" pitchFamily="34" charset="0"/>
              <a:buChar char="•"/>
            </a:pPr>
            <a:r>
              <a:rPr lang="en-US" dirty="0"/>
              <a:t>Download reports and manage users.</a:t>
            </a:r>
          </a:p>
          <a:p>
            <a:pPr>
              <a:buNone/>
            </a:pPr>
            <a:br>
              <a:rPr lang="en-US" dirty="0"/>
            </a:br>
            <a:endParaRPr lang="en-US" dirty="0"/>
          </a:p>
        </p:txBody>
      </p:sp>
    </p:spTree>
    <p:extLst>
      <p:ext uri="{BB962C8B-B14F-4D97-AF65-F5344CB8AC3E}">
        <p14:creationId xmlns:p14="http://schemas.microsoft.com/office/powerpoint/2010/main" val="70733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B7A5B-7CC3-4E10-53E7-8F45F10B8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C83BE-67B4-542D-278C-2D251821DBE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Output Screens</a:t>
            </a:r>
          </a:p>
        </p:txBody>
      </p:sp>
      <p:pic>
        <p:nvPicPr>
          <p:cNvPr id="4" name="Picture 3">
            <a:extLst>
              <a:ext uri="{FF2B5EF4-FFF2-40B4-BE49-F238E27FC236}">
                <a16:creationId xmlns:a16="http://schemas.microsoft.com/office/drawing/2014/main" id="{35E0E0DB-6ADD-828E-E654-BB64F8A0DE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9CC5071C-2685-50FF-CE58-FCB7FB1CF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2453" y="1690688"/>
            <a:ext cx="7733110" cy="4095750"/>
          </a:xfrm>
          <a:prstGeom prst="rect">
            <a:avLst/>
          </a:prstGeom>
        </p:spPr>
      </p:pic>
    </p:spTree>
    <p:extLst>
      <p:ext uri="{BB962C8B-B14F-4D97-AF65-F5344CB8AC3E}">
        <p14:creationId xmlns:p14="http://schemas.microsoft.com/office/powerpoint/2010/main" val="3200071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216AD-01AE-D96D-4666-D45EA99E0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2CA7F-A4F4-14C5-F2A3-C99A9384D385}"/>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Output Screens</a:t>
            </a:r>
          </a:p>
        </p:txBody>
      </p:sp>
      <p:pic>
        <p:nvPicPr>
          <p:cNvPr id="4" name="Picture 3">
            <a:extLst>
              <a:ext uri="{FF2B5EF4-FFF2-40B4-BE49-F238E27FC236}">
                <a16:creationId xmlns:a16="http://schemas.microsoft.com/office/drawing/2014/main" id="{EC922314-01E4-E500-583C-D1B2EC62DF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3085EAE4-D647-B37C-E433-94DB9D45D1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1719" y="1690688"/>
            <a:ext cx="7804547" cy="4560093"/>
          </a:xfrm>
          <a:prstGeom prst="rect">
            <a:avLst/>
          </a:prstGeom>
        </p:spPr>
      </p:pic>
    </p:spTree>
    <p:extLst>
      <p:ext uri="{BB962C8B-B14F-4D97-AF65-F5344CB8AC3E}">
        <p14:creationId xmlns:p14="http://schemas.microsoft.com/office/powerpoint/2010/main" val="3086705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866B-90B7-1CC0-9F1A-8C304E149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2E976-BB16-6F5C-71EF-D896DA731762}"/>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Output Screens</a:t>
            </a:r>
          </a:p>
        </p:txBody>
      </p:sp>
      <p:pic>
        <p:nvPicPr>
          <p:cNvPr id="4" name="Picture 3">
            <a:extLst>
              <a:ext uri="{FF2B5EF4-FFF2-40B4-BE49-F238E27FC236}">
                <a16:creationId xmlns:a16="http://schemas.microsoft.com/office/drawing/2014/main" id="{070995C1-B8EC-3B4B-D127-5F4E5FD83C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67039D1F-FF10-6412-9A56-E02C704BF1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8172" y="1752599"/>
            <a:ext cx="7393781" cy="4230292"/>
          </a:xfrm>
          <a:prstGeom prst="rect">
            <a:avLst/>
          </a:prstGeom>
        </p:spPr>
      </p:pic>
    </p:spTree>
    <p:extLst>
      <p:ext uri="{BB962C8B-B14F-4D97-AF65-F5344CB8AC3E}">
        <p14:creationId xmlns:p14="http://schemas.microsoft.com/office/powerpoint/2010/main" val="2124441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2866-8EF3-F45B-E65F-2559E91EF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36FC1-4FF7-0405-E505-E5EBEAB2002B}"/>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Output Screens</a:t>
            </a:r>
          </a:p>
        </p:txBody>
      </p:sp>
      <p:pic>
        <p:nvPicPr>
          <p:cNvPr id="4" name="Picture 3">
            <a:extLst>
              <a:ext uri="{FF2B5EF4-FFF2-40B4-BE49-F238E27FC236}">
                <a16:creationId xmlns:a16="http://schemas.microsoft.com/office/drawing/2014/main" id="{9AAF713B-89F8-4311-D17E-0D19BB8B5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pic>
        <p:nvPicPr>
          <p:cNvPr id="3" name="Picture 2">
            <a:extLst>
              <a:ext uri="{FF2B5EF4-FFF2-40B4-BE49-F238E27FC236}">
                <a16:creationId xmlns:a16="http://schemas.microsoft.com/office/drawing/2014/main" id="{27C8C0AF-6E5A-07F0-3383-711388AF8A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28938" y="1790698"/>
            <a:ext cx="7215187" cy="4702177"/>
          </a:xfrm>
          <a:prstGeom prst="rect">
            <a:avLst/>
          </a:prstGeom>
        </p:spPr>
      </p:pic>
    </p:spTree>
    <p:extLst>
      <p:ext uri="{BB962C8B-B14F-4D97-AF65-F5344CB8AC3E}">
        <p14:creationId xmlns:p14="http://schemas.microsoft.com/office/powerpoint/2010/main" val="2640442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5" name="TextBox 4">
            <a:extLst>
              <a:ext uri="{FF2B5EF4-FFF2-40B4-BE49-F238E27FC236}">
                <a16:creationId xmlns:a16="http://schemas.microsoft.com/office/drawing/2014/main" id="{E49FC670-C8BC-7EBC-2030-A366483C3033}"/>
              </a:ext>
            </a:extLst>
          </p:cNvPr>
          <p:cNvSpPr txBox="1"/>
          <p:nvPr/>
        </p:nvSpPr>
        <p:spPr>
          <a:xfrm>
            <a:off x="1821656" y="1855944"/>
            <a:ext cx="8590360" cy="2862322"/>
          </a:xfrm>
          <a:prstGeom prst="rect">
            <a:avLst/>
          </a:prstGeom>
          <a:noFill/>
        </p:spPr>
        <p:txBody>
          <a:bodyPr wrap="square">
            <a:spAutoFit/>
          </a:bodyPr>
          <a:lstStyle/>
          <a:p>
            <a:pPr>
              <a:buNone/>
            </a:pPr>
            <a:endParaRPr lang="en-US" dirty="0"/>
          </a:p>
          <a:p>
            <a:pPr>
              <a:buFont typeface="Arial" panose="020B0604020202020204" pitchFamily="34" charset="0"/>
              <a:buChar char="•"/>
            </a:pPr>
            <a:r>
              <a:rPr lang="en-US" dirty="0"/>
              <a:t>Extracted data from online sources successfully.</a:t>
            </a:r>
          </a:p>
          <a:p>
            <a:pPr>
              <a:buFont typeface="Arial" panose="020B0604020202020204" pitchFamily="34" charset="0"/>
              <a:buChar char="•"/>
            </a:pPr>
            <a:endParaRPr lang="en-US" dirty="0"/>
          </a:p>
          <a:p>
            <a:pPr>
              <a:buFont typeface="Arial" panose="020B0604020202020204" pitchFamily="34" charset="0"/>
              <a:buChar char="•"/>
            </a:pPr>
            <a:r>
              <a:rPr lang="en-US" dirty="0"/>
              <a:t>Cleaned and preprocessed text using NLP techniques.</a:t>
            </a:r>
          </a:p>
          <a:p>
            <a:pPr>
              <a:buFont typeface="Arial" panose="020B0604020202020204" pitchFamily="34" charset="0"/>
              <a:buChar char="•"/>
            </a:pPr>
            <a:endParaRPr lang="en-US" dirty="0"/>
          </a:p>
          <a:p>
            <a:pPr>
              <a:buFont typeface="Arial" panose="020B0604020202020204" pitchFamily="34" charset="0"/>
              <a:buChar char="•"/>
            </a:pPr>
            <a:r>
              <a:rPr lang="en-US" dirty="0"/>
              <a:t>Performed sentiment and readability analysis.</a:t>
            </a:r>
          </a:p>
          <a:p>
            <a:pPr>
              <a:buFont typeface="Arial" panose="020B0604020202020204" pitchFamily="34" charset="0"/>
              <a:buChar char="•"/>
            </a:pPr>
            <a:endParaRPr lang="en-US" dirty="0"/>
          </a:p>
          <a:p>
            <a:pPr>
              <a:buFont typeface="Arial" panose="020B0604020202020204" pitchFamily="34" charset="0"/>
              <a:buChar char="•"/>
            </a:pPr>
            <a:r>
              <a:rPr lang="en-US" dirty="0"/>
              <a:t>Converted unstructured text into structured insights.</a:t>
            </a:r>
          </a:p>
          <a:p>
            <a:endParaRPr lang="en-US" dirty="0"/>
          </a:p>
          <a:p>
            <a:pPr>
              <a:buFont typeface="Arial" panose="020B0604020202020204" pitchFamily="34" charset="0"/>
              <a:buChar char="•"/>
            </a:pPr>
            <a:r>
              <a:rPr lang="en-US" dirty="0"/>
              <a:t>Proved usefulness of NLP for data analysis task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204-1BB4-7AC2-97E6-5A0D524DF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811BA-300F-3D2C-4E65-3FB950DD2B26}"/>
              </a:ext>
            </a:extLst>
          </p:cNvPr>
          <p:cNvSpPr>
            <a:spLocks noGrp="1"/>
          </p:cNvSpPr>
          <p:nvPr>
            <p:ph type="title"/>
          </p:nvPr>
        </p:nvSpPr>
        <p:spPr/>
        <p:txBody>
          <a:bodyPr>
            <a:normAutofit/>
          </a:bodyPr>
          <a:lstStyle/>
          <a:p>
            <a:pPr algn="ctr"/>
            <a:r>
              <a:rPr lang="en-IN" b="1" dirty="0">
                <a:solidFill>
                  <a:srgbClr val="222222"/>
                </a:solidFill>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F687A0E-3F2D-EE9F-84AD-A1AB219E38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6" name="TextBox 5">
            <a:extLst>
              <a:ext uri="{FF2B5EF4-FFF2-40B4-BE49-F238E27FC236}">
                <a16:creationId xmlns:a16="http://schemas.microsoft.com/office/drawing/2014/main" id="{ABAF3FF3-B1ED-3AB6-CE10-F3ACC3384ED9}"/>
              </a:ext>
            </a:extLst>
          </p:cNvPr>
          <p:cNvSpPr txBox="1"/>
          <p:nvPr/>
        </p:nvSpPr>
        <p:spPr>
          <a:xfrm>
            <a:off x="1364018" y="1855944"/>
            <a:ext cx="9762374" cy="3139321"/>
          </a:xfrm>
          <a:prstGeom prst="rect">
            <a:avLst/>
          </a:prstGeom>
          <a:noFill/>
        </p:spPr>
        <p:txBody>
          <a:bodyPr wrap="square">
            <a:spAutoFit/>
          </a:bodyPr>
          <a:lstStyle/>
          <a:p>
            <a:pPr>
              <a:buNone/>
            </a:pPr>
            <a:endParaRPr lang="en-US" dirty="0"/>
          </a:p>
          <a:p>
            <a:pPr>
              <a:buFont typeface="Arial" panose="020B0604020202020204" pitchFamily="34" charset="0"/>
              <a:buChar char="•"/>
            </a:pPr>
            <a:r>
              <a:rPr lang="en-US" dirty="0"/>
              <a:t>Automating extraction from more diverse data sources (PDFs, images, social media).</a:t>
            </a:r>
          </a:p>
          <a:p>
            <a:pPr>
              <a:buFont typeface="Arial" panose="020B0604020202020204" pitchFamily="34" charset="0"/>
              <a:buChar char="•"/>
            </a:pPr>
            <a:endParaRPr lang="en-US" dirty="0"/>
          </a:p>
          <a:p>
            <a:pPr>
              <a:buFont typeface="Arial" panose="020B0604020202020204" pitchFamily="34" charset="0"/>
              <a:buChar char="•"/>
            </a:pPr>
            <a:r>
              <a:rPr lang="en-US" dirty="0"/>
              <a:t>Applying advanced NLP models (like BERT, GPT) for deeper text understanding.</a:t>
            </a:r>
          </a:p>
          <a:p>
            <a:pPr>
              <a:buFont typeface="Arial" panose="020B0604020202020204" pitchFamily="34" charset="0"/>
              <a:buChar char="•"/>
            </a:pPr>
            <a:endParaRPr lang="en-US" dirty="0"/>
          </a:p>
          <a:p>
            <a:pPr>
              <a:buFont typeface="Arial" panose="020B0604020202020204" pitchFamily="34" charset="0"/>
              <a:buChar char="•"/>
            </a:pPr>
            <a:r>
              <a:rPr lang="en-US" dirty="0"/>
              <a:t>Integrating topic modeling and text summarization for better insights.</a:t>
            </a:r>
          </a:p>
          <a:p>
            <a:pPr>
              <a:buFont typeface="Arial" panose="020B0604020202020204" pitchFamily="34" charset="0"/>
              <a:buChar char="•"/>
            </a:pPr>
            <a:endParaRPr lang="en-US" dirty="0"/>
          </a:p>
          <a:p>
            <a:pPr>
              <a:buFont typeface="Arial" panose="020B0604020202020204" pitchFamily="34" charset="0"/>
              <a:buChar char="•"/>
            </a:pPr>
            <a:r>
              <a:rPr lang="en-US" dirty="0"/>
              <a:t>Building a dashboard to visualize extracted data and analysis results.</a:t>
            </a:r>
          </a:p>
          <a:p>
            <a:endParaRPr lang="en-US" dirty="0"/>
          </a:p>
          <a:p>
            <a:pPr>
              <a:buFont typeface="Arial" panose="020B0604020202020204" pitchFamily="34" charset="0"/>
              <a:buChar char="•"/>
            </a:pPr>
            <a:r>
              <a:rPr lang="en-US" dirty="0"/>
              <a:t>Expanding to multilingual data extraction and analysis</a:t>
            </a:r>
          </a:p>
          <a:p>
            <a:pPr>
              <a:buNone/>
            </a:pPr>
            <a:endParaRPr lang="en-US" dirty="0"/>
          </a:p>
        </p:txBody>
      </p:sp>
    </p:spTree>
    <p:extLst>
      <p:ext uri="{BB962C8B-B14F-4D97-AF65-F5344CB8AC3E}">
        <p14:creationId xmlns:p14="http://schemas.microsoft.com/office/powerpoint/2010/main" val="834117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35D2C-9D62-CE9E-A7AD-2D1A8AD97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D031F-B5B8-810D-0E2C-F559A63F7DD0}"/>
              </a:ext>
            </a:extLst>
          </p:cNvPr>
          <p:cNvSpPr>
            <a:spLocks noGrp="1"/>
          </p:cNvSpPr>
          <p:nvPr>
            <p:ph type="title"/>
          </p:nvPr>
        </p:nvSpPr>
        <p:spPr/>
        <p:txBody>
          <a:bodyPr>
            <a:normAutofit/>
          </a:bodyPr>
          <a:lstStyle/>
          <a:p>
            <a:pPr algn="ctr"/>
            <a:r>
              <a:rPr lang="en-US" b="1" dirty="0">
                <a:solidFill>
                  <a:srgbClr val="222222"/>
                </a:solidFill>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1910C5-A42C-A8BD-2DA6-53E6A29F6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
        <p:nvSpPr>
          <p:cNvPr id="5" name="TextBox 4">
            <a:extLst>
              <a:ext uri="{FF2B5EF4-FFF2-40B4-BE49-F238E27FC236}">
                <a16:creationId xmlns:a16="http://schemas.microsoft.com/office/drawing/2014/main" id="{AA5E6C49-6587-5922-D8D1-9C90E154A580}"/>
              </a:ext>
            </a:extLst>
          </p:cNvPr>
          <p:cNvSpPr txBox="1"/>
          <p:nvPr/>
        </p:nvSpPr>
        <p:spPr>
          <a:xfrm>
            <a:off x="1364017" y="1952655"/>
            <a:ext cx="8940842" cy="4247317"/>
          </a:xfrm>
          <a:prstGeom prst="rect">
            <a:avLst/>
          </a:prstGeom>
          <a:noFill/>
        </p:spPr>
        <p:txBody>
          <a:bodyPr wrap="square">
            <a:spAutoFit/>
          </a:bodyPr>
          <a:lstStyle/>
          <a:p>
            <a:pPr>
              <a:buNone/>
            </a:pPr>
            <a:endParaRPr lang="en-US" dirty="0"/>
          </a:p>
          <a:p>
            <a:pPr>
              <a:buFont typeface="+mj-lt"/>
              <a:buAutoNum type="arabicPeriod"/>
            </a:pPr>
            <a:r>
              <a:rPr lang="en-US" dirty="0" err="1"/>
              <a:t>Jurafsky</a:t>
            </a:r>
            <a:r>
              <a:rPr lang="en-US" dirty="0"/>
              <a:t>, D. &amp; Martin, J. H. (2023). </a:t>
            </a:r>
            <a:r>
              <a:rPr lang="en-US" i="1" dirty="0"/>
              <a:t>Speech and Language Processing</a:t>
            </a:r>
            <a:r>
              <a:rPr lang="en-US" dirty="0"/>
              <a:t> (3rd Edition Draft). Stanford University.</a:t>
            </a:r>
          </a:p>
          <a:p>
            <a:pPr>
              <a:buFont typeface="+mj-lt"/>
              <a:buAutoNum type="arabicPeriod"/>
            </a:pPr>
            <a:endParaRPr lang="en-US" dirty="0"/>
          </a:p>
          <a:p>
            <a:pPr>
              <a:buFont typeface="+mj-lt"/>
              <a:buAutoNum type="arabicPeriod"/>
            </a:pPr>
            <a:r>
              <a:rPr lang="en-US" dirty="0"/>
              <a:t>Bird, S., Klein, E., &amp; </a:t>
            </a:r>
            <a:r>
              <a:rPr lang="en-US" dirty="0" err="1"/>
              <a:t>Loper</a:t>
            </a:r>
            <a:r>
              <a:rPr lang="en-US" dirty="0"/>
              <a:t>, E. (2009). </a:t>
            </a:r>
            <a:r>
              <a:rPr lang="en-US" i="1" dirty="0"/>
              <a:t>Natural Language Processing with Python</a:t>
            </a:r>
            <a:r>
              <a:rPr lang="en-US" dirty="0"/>
              <a:t>. O’Reilly Media.</a:t>
            </a:r>
          </a:p>
          <a:p>
            <a:pPr>
              <a:buFont typeface="+mj-lt"/>
              <a:buAutoNum type="arabicPeriod"/>
            </a:pPr>
            <a:endParaRPr lang="en-US" dirty="0"/>
          </a:p>
          <a:p>
            <a:pPr>
              <a:buFont typeface="+mj-lt"/>
              <a:buAutoNum type="arabicPeriod"/>
            </a:pPr>
            <a:r>
              <a:rPr lang="en-US" dirty="0"/>
              <a:t>Manning, C. D., </a:t>
            </a:r>
            <a:r>
              <a:rPr lang="en-US" dirty="0" err="1"/>
              <a:t>Raghavan</a:t>
            </a:r>
            <a:r>
              <a:rPr lang="en-US" dirty="0"/>
              <a:t>, P., &amp; </a:t>
            </a:r>
            <a:r>
              <a:rPr lang="en-US" dirty="0" err="1"/>
              <a:t>Schütze</a:t>
            </a:r>
            <a:r>
              <a:rPr lang="en-US" dirty="0"/>
              <a:t>, H. (2008). </a:t>
            </a:r>
            <a:r>
              <a:rPr lang="en-US" i="1" dirty="0"/>
              <a:t>Introduction to Information Retrieval</a:t>
            </a:r>
            <a:r>
              <a:rPr lang="en-US" dirty="0"/>
              <a:t>. Cambridge University Press.</a:t>
            </a:r>
          </a:p>
          <a:p>
            <a:pPr>
              <a:buFont typeface="+mj-lt"/>
              <a:buAutoNum type="arabicPeriod"/>
            </a:pPr>
            <a:endParaRPr lang="en-US" dirty="0"/>
          </a:p>
          <a:p>
            <a:pPr>
              <a:buFont typeface="+mj-lt"/>
              <a:buAutoNum type="arabicPeriod"/>
            </a:pPr>
            <a:r>
              <a:rPr lang="en-US" dirty="0" err="1"/>
              <a:t>Vaswani</a:t>
            </a:r>
            <a:r>
              <a:rPr lang="en-US" dirty="0"/>
              <a:t>, A., et al. (2017). “Attention Is All You Need.” </a:t>
            </a:r>
            <a:r>
              <a:rPr lang="en-US" i="1" dirty="0"/>
              <a:t>Advances in Neural Information Processing Systems (</a:t>
            </a:r>
            <a:r>
              <a:rPr lang="en-US" i="1" dirty="0" err="1"/>
              <a:t>NeurIPS</a:t>
            </a:r>
            <a:r>
              <a:rPr lang="en-US" i="1" dirty="0"/>
              <a:t>)</a:t>
            </a:r>
            <a:r>
              <a:rPr lang="en-US" dirty="0"/>
              <a:t>.</a:t>
            </a:r>
          </a:p>
          <a:p>
            <a:pPr>
              <a:buFont typeface="+mj-lt"/>
              <a:buAutoNum type="arabicPeriod"/>
            </a:pPr>
            <a:endParaRPr lang="en-US" dirty="0"/>
          </a:p>
          <a:p>
            <a:pPr>
              <a:buFont typeface="+mj-lt"/>
              <a:buAutoNum type="arabicPeriod"/>
            </a:pPr>
            <a:r>
              <a:rPr lang="en-US" dirty="0" err="1"/>
              <a:t>Pedregosa</a:t>
            </a:r>
            <a:r>
              <a:rPr lang="en-US" dirty="0"/>
              <a:t>, F., et al. (2011). “</a:t>
            </a:r>
            <a:r>
              <a:rPr lang="en-US" dirty="0" err="1"/>
              <a:t>Scikit</a:t>
            </a:r>
            <a:r>
              <a:rPr lang="en-US" dirty="0"/>
              <a:t>-learn: Machine Learning in Python.” </a:t>
            </a:r>
            <a:r>
              <a:rPr lang="en-US" i="1" dirty="0"/>
              <a:t>Journal of Machine Learning Research</a:t>
            </a:r>
            <a:r>
              <a:rPr lang="en-US" dirty="0"/>
              <a:t>, 12, 2825–2830.</a:t>
            </a:r>
          </a:p>
        </p:txBody>
      </p:sp>
    </p:spTree>
    <p:extLst>
      <p:ext uri="{BB962C8B-B14F-4D97-AF65-F5344CB8AC3E}">
        <p14:creationId xmlns:p14="http://schemas.microsoft.com/office/powerpoint/2010/main" val="188048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5195" y="1792069"/>
            <a:ext cx="10515600" cy="4351338"/>
          </a:xfrm>
        </p:spPr>
        <p:txBody>
          <a:bodyPr>
            <a:normAutofit/>
          </a:bodyPr>
          <a:lstStyle/>
          <a:p>
            <a:pPr marL="0" indent="0" algn="ctr">
              <a:buNone/>
            </a:pPr>
            <a:endParaRPr lang="en-US" sz="8000" dirty="0">
              <a:latin typeface="Times New Roman" panose="02020603050405020304" pitchFamily="18" charset="0"/>
              <a:cs typeface="Times New Roman" panose="02020603050405020304" pitchFamily="18" charset="0"/>
            </a:endParaRPr>
          </a:p>
          <a:p>
            <a:pPr marL="0" indent="0" algn="ctr">
              <a:buNone/>
            </a:pPr>
            <a:r>
              <a:rPr lang="en-US" sz="8000" dirty="0">
                <a:latin typeface="Times New Roman" panose="02020603050405020304" pitchFamily="18" charset="0"/>
                <a:cs typeface="Times New Roman" panose="02020603050405020304" pitchFamily="18" charset="0"/>
              </a:rPr>
              <a:t>THANK YOU</a:t>
            </a:r>
            <a:endParaRPr lang="en-IN" sz="8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TotalTime>
  <Words>1123</Words>
  <Application>Microsoft Office PowerPoint</Application>
  <PresentationFormat>Widescreen</PresentationFormat>
  <Paragraphs>197</Paragraphs>
  <Slides>26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Office Theme</vt:lpstr>
      <vt:lpstr>  MALLA REDDY COLLEGE OF ENGINEERING &amp; TECHNOLOGY  (Autonomous Institution – UGC, Govt. of India)   DEPARTMENT OF COMPUTER SCIENCE AND ENGINEERING</vt:lpstr>
      <vt:lpstr>AGENDA</vt:lpstr>
      <vt:lpstr>Abstract</vt:lpstr>
      <vt:lpstr>    Introduction</vt:lpstr>
      <vt:lpstr>Existing system</vt:lpstr>
      <vt:lpstr>Proposed system</vt:lpstr>
      <vt:lpstr>Software Requirements</vt:lpstr>
      <vt:lpstr>PowerPoint Presentation</vt:lpstr>
      <vt:lpstr>Literature Survey</vt:lpstr>
      <vt:lpstr>Architecture</vt:lpstr>
      <vt:lpstr>UML Diagrams 1.Class Diagram</vt:lpstr>
      <vt:lpstr>2.Use Case Diagram</vt:lpstr>
      <vt:lpstr>3 Dataflow Diagram</vt:lpstr>
      <vt:lpstr>4.Sequence diagram </vt:lpstr>
      <vt:lpstr> Technologies Used</vt:lpstr>
      <vt:lpstr> Technologies Used</vt:lpstr>
      <vt:lpstr>Module Description</vt:lpstr>
      <vt:lpstr>Module Description</vt:lpstr>
      <vt:lpstr>Output Screens</vt:lpstr>
      <vt:lpstr>Output Screens</vt:lpstr>
      <vt:lpstr>Output Screens</vt:lpstr>
      <vt:lpstr>Output Screens</vt:lpstr>
      <vt:lpstr>Conclusion</vt:lpstr>
      <vt:lpstr>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 REDDY COLLEGE OF ENGINEERING &amp; TECHNOLOGY  (Autonomous Institution – UGC, Govt. of India)   DEPARTMENT OF COMPUTER SCIENCE AND ENGINEERING</dc:title>
  <dc:creator>MRCET</dc:creator>
  <cp:lastModifiedBy>Rasagna Parvathi</cp:lastModifiedBy>
  <cp:revision>35</cp:revision>
  <dcterms:created xsi:type="dcterms:W3CDTF">2024-02-28T09:55:00Z</dcterms:created>
  <dcterms:modified xsi:type="dcterms:W3CDTF">2026-02-12T05:44:41Z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63AC2C19E2174FC4AC502543E11B4E3B_12</vt:lpwstr>
  </property>
  <property fmtid="{D5CDD505-2E9C-101B-9397-08002B2CF9AE}" pid="3" name="KSOProductBuildVer">
    <vt:lpwstr>1033-12.2.0.17545</vt:lpwstr>
  </property>
</Properties>
</file>